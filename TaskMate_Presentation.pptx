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8" r:id="rId3"/>
    <p:sldId id="269" r:id="rId4"/>
    <p:sldId id="263" r:id="rId5"/>
    <p:sldId id="266" r:id="rId6"/>
    <p:sldId id="267" r:id="rId7"/>
    <p:sldId id="257" r:id="rId8"/>
    <p:sldId id="258" r:id="rId9"/>
    <p:sldId id="259" r:id="rId10"/>
    <p:sldId id="260" r:id="rId11"/>
    <p:sldId id="261" r:id="rId12"/>
    <p:sldId id="262" r:id="rId13"/>
    <p:sldId id="264" r:id="rId14"/>
    <p:sldId id="270"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4DFCAF-7F70-8F97-4344-708BD6116D01}">
          <p14:sldIdLst>
            <p14:sldId id="256"/>
            <p14:sldId id="268"/>
            <p14:sldId id="269"/>
            <p14:sldId id="263"/>
            <p14:sldId id="266"/>
            <p14:sldId id="267"/>
            <p14:sldId id="257"/>
            <p14:sldId id="258"/>
          </p14:sldIdLst>
        </p14:section>
        <p14:section name="Features" id="{58F76F84-DDD4-20B6-E820-D533554B82E6}">
          <p14:sldIdLst>
            <p14:sldId id="259"/>
            <p14:sldId id="260"/>
            <p14:sldId id="261"/>
            <p14:sldId id="262"/>
            <p14:sldId id="264"/>
          </p14:sldIdLst>
        </p14:section>
        <p14:section name="Wrap-up" id="{B7603249-5499-557D-11A4-21A2E3C03453}">
          <p14:sldIdLst>
            <p14:sldId id="270"/>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niiyappan29@gmail.com" userId="6efda245f3505df4" providerId="LiveId" clId="{72921835-EA63-4769-8D45-28FBCAFC352B}"/>
    <pc:docChg chg="undo custSel addSld modSld sldOrd modSection">
      <pc:chgData name="hariniiyappan29@gmail.com" userId="6efda245f3505df4" providerId="LiveId" clId="{72921835-EA63-4769-8D45-28FBCAFC352B}" dt="2026-10-12T04:10:33.806" v="17" actId="14100"/>
      <pc:docMkLst>
        <pc:docMk/>
      </pc:docMkLst>
      <pc:sldChg chg="ord">
        <pc:chgData name="hariniiyappan29@gmail.com" userId="6efda245f3505df4" providerId="LiveId" clId="{72921835-EA63-4769-8D45-28FBCAFC352B}" dt="2026-10-12T04:03:40.465" v="3"/>
        <pc:sldMkLst>
          <pc:docMk/>
          <pc:sldMk cId="0" sldId="263"/>
        </pc:sldMkLst>
      </pc:sldChg>
      <pc:sldChg chg="modSp mod ord">
        <pc:chgData name="hariniiyappan29@gmail.com" userId="6efda245f3505df4" providerId="LiveId" clId="{72921835-EA63-4769-8D45-28FBCAFC352B}" dt="2026-10-12T04:09:16.949" v="11"/>
        <pc:sldMkLst>
          <pc:docMk/>
          <pc:sldMk cId="0" sldId="265"/>
        </pc:sldMkLst>
        <pc:spChg chg="mod">
          <ac:chgData name="hariniiyappan29@gmail.com" userId="6efda245f3505df4" providerId="LiveId" clId="{72921835-EA63-4769-8D45-28FBCAFC352B}" dt="2026-10-12T04:05:16.828" v="8" actId="6549"/>
          <ac:spMkLst>
            <pc:docMk/>
            <pc:sldMk cId="0" sldId="265"/>
            <ac:spMk id="5" creationId="{00000000-0000-0000-0000-000000000000}"/>
          </ac:spMkLst>
        </pc:spChg>
      </pc:sldChg>
      <pc:sldChg chg="ord">
        <pc:chgData name="hariniiyappan29@gmail.com" userId="6efda245f3505df4" providerId="LiveId" clId="{72921835-EA63-4769-8D45-28FBCAFC352B}" dt="2026-10-12T04:03:47.758" v="5"/>
        <pc:sldMkLst>
          <pc:docMk/>
          <pc:sldMk cId="0" sldId="266"/>
        </pc:sldMkLst>
      </pc:sldChg>
      <pc:sldChg chg="ord">
        <pc:chgData name="hariniiyappan29@gmail.com" userId="6efda245f3505df4" providerId="LiveId" clId="{72921835-EA63-4769-8D45-28FBCAFC352B}" dt="2026-10-12T04:03:58.789" v="7"/>
        <pc:sldMkLst>
          <pc:docMk/>
          <pc:sldMk cId="0" sldId="267"/>
        </pc:sldMkLst>
      </pc:sldChg>
      <pc:sldChg chg="ord">
        <pc:chgData name="hariniiyappan29@gmail.com" userId="6efda245f3505df4" providerId="LiveId" clId="{72921835-EA63-4769-8D45-28FBCAFC352B}" dt="2026-10-12T04:02:44.882" v="1"/>
        <pc:sldMkLst>
          <pc:docMk/>
          <pc:sldMk cId="0" sldId="269"/>
        </pc:sldMkLst>
      </pc:sldChg>
      <pc:sldChg chg="addSp modSp new mod">
        <pc:chgData name="hariniiyappan29@gmail.com" userId="6efda245f3505df4" providerId="LiveId" clId="{72921835-EA63-4769-8D45-28FBCAFC352B}" dt="2026-10-12T04:10:33.806" v="17" actId="14100"/>
        <pc:sldMkLst>
          <pc:docMk/>
          <pc:sldMk cId="1312719405" sldId="270"/>
        </pc:sldMkLst>
        <pc:picChg chg="add mod">
          <ac:chgData name="hariniiyappan29@gmail.com" userId="6efda245f3505df4" providerId="LiveId" clId="{72921835-EA63-4769-8D45-28FBCAFC352B}" dt="2026-10-12T04:10:33.806" v="17" actId="14100"/>
          <ac:picMkLst>
            <pc:docMk/>
            <pc:sldMk cId="1312719405" sldId="270"/>
            <ac:picMk id="5" creationId="{C7A66835-3B5C-38E6-3FE4-4F629A721C34}"/>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Tasks</c:v>
                </c:pt>
              </c:strCache>
            </c:strRef>
          </c:tx>
          <c:spPr>
            <a:solidFill>
              <a:srgbClr val="7C3AED"/>
            </a:solidFill>
            <a:effectLst/>
          </c:spPr>
          <c:invertIfNegative val="0"/>
          <c:dLbls>
            <c:numFmt formatCode="#,##0" sourceLinked="0"/>
            <c:spPr>
              <a:noFill/>
              <a:ln>
                <a:noFill/>
              </a:ln>
              <a:effectLst/>
            </c:spPr>
            <c:txPr>
              <a:bodyPr/>
              <a:lstStyle/>
              <a:p>
                <a:pPr>
                  <a:defRPr sz="1200" b="0" i="0" u="none" strike="noStrike">
                    <a:solidFill>
                      <a:srgbClr val="1E1B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Studies</c:v>
                </c:pt>
                <c:pt idx="1">
                  <c:v>Exams</c:v>
                </c:pt>
                <c:pt idx="2">
                  <c:v>Sports</c:v>
                </c:pt>
                <c:pt idx="3">
                  <c:v>Workout</c:v>
                </c:pt>
              </c:strCache>
            </c:strRef>
          </c:cat>
          <c:val>
            <c:numRef>
              <c:f>Sheet1!$B$2:$B$5</c:f>
              <c:numCache>
                <c:formatCode>General</c:formatCode>
                <c:ptCount val="4"/>
                <c:pt idx="0">
                  <c:v>3</c:v>
                </c:pt>
                <c:pt idx="1">
                  <c:v>2</c:v>
                </c:pt>
                <c:pt idx="2">
                  <c:v>2</c:v>
                </c:pt>
                <c:pt idx="3">
                  <c:v>2</c:v>
                </c:pt>
              </c:numCache>
            </c:numRef>
          </c:val>
          <c:extLst>
            <c:ext xmlns:c16="http://schemas.microsoft.com/office/drawing/2014/chart" uri="{C3380CC4-5D6E-409C-BE32-E72D297353CC}">
              <c16:uniqueId val="{00000000-76B6-4A23-99EC-B8A6C8F2229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890"/>
                </a:solidFill>
                <a:latin typeface="+mn-lt"/>
              </a:defRPr>
            </a:pPr>
            <a:endParaRPr lang="en-US"/>
          </a:p>
        </c:txPr>
        <c:crossAx val="2094734552"/>
        <c:crosses val="autoZero"/>
        <c:auto val="1"/>
        <c:lblAlgn val="ctr"/>
        <c:lblOffset val="100"/>
        <c:noMultiLvlLbl val="1"/>
      </c:catAx>
      <c:valAx>
        <c:axId val="2094734552"/>
        <c:scaling>
          <c:orientation val="minMax"/>
          <c:max val="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10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(slides 1-2). Welcome everyone. We are Team TaskMate, six members, and this is our mini project: TaskMate, a creative task management app built with HTML, CSS and JavaScript. The tagline says it all: Plan smart, work better, achieve more. The card on the right is a tiny preview of what the app feels like: tasks, a progress bar and a clean glass look.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(slide 8). We followed a seven step development lifecycle. Planning: identify the problem and project objectives. Requirement analysis: identify user needs and system requirements. System design: design the user interface, database and workflow. Development: develop task creation, assignment and tracking features. Testing: check features and fix errors. Deployment: launch the application for users. Maintenance: update features and fix issues after launch.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Students and small teams juggle studies, exams, sports and workouts. Tasks end up scattered, deadlines slip, and it is hard to see progress. TaskMate puts everything in one workspace: organised by category and priority, with deadlines on a dashboard and calendar, and charts that show how far you have come.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(slide 3). These six features are also listed on our landing page: a smart dashboard, a Kanban board, a calendar, analytics, search and filter, and dark mode with accent colours. TaskMate is built with plain HTML, CSS and JavaScript and has no backend server; every task is saved in the browser. HTML builds the 10 screens, CSS gives the gradient and glass look and the responsive layout, JavaScript handles tasks, filters, drag and drop, charts and the timer. Under the hood, every action updates one list of tasks, saves it to localStorage and redraws all views, so they always stay in sync.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(slide 4). The dashboard is the first screen after login. Four live counters show total, pending, in-progress and completed tasks, and the progress bar updates automatically. A banner warns about tasks due today or overdue, a streak counter rewards daily completion, and the upcoming deadlines list shows the next five open tasks. The numbers here come from the demo data that ships with the app. Good moment for a short live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(slides 5-6). Creating a task takes five inputs: title, description, category, priority and due date. Every task can be edited in a pop-up, deleted with a five-second Undo, searched, filtered by category and status, and sorted by deadline. Priority is colour coded red, amber and green. Ticking a task complete triggers a small confetti celebration.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The Kanban board has three columns: To Do, In Progress and Completed. Cards can be dragged between columns using the browser drag and drop feature. On phones, where dragging is awkward, each card has a status dropdown instead. Moving a card to Completed records the completion date, which feeds the streak and the analytics. Cards shown here are from the demo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(slide 7). The calendar shows each task on its due date, highlights today and marks overdue tasks in red. Analytics shows the completion percentage, tasks per category, completed versus pending, and what was finished in the last seven days; the chart here uses the sample data. The focus timer has a 25 minute focus mode, a 5 minute break and a 15 minute long break, and counts completed sessions for the day. Settings also allow dark mode, four accent colours and exporting or importing tasks as a JSON backup.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(slide 9). We tested four main things: creating a task, showing the task list, updating task status, and setting a deadline. For each test we record the expected result and the actual result, then mark it Pass or Fail. Any errors are documented as bugs, and we note any feature that was not implemented or not tested. Finally we prepare a testing report and, if the team needs it, keep a TESTING.md file in our GitHub repository.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(slide 10). TaskMate today is a complete front-end project: plan smart, work better, achieve more. For the next version we would add a real backend with accounts so tasks sync across devices, reminders before deadlines, team sharing and task assignment, and an installable mobile app. Thank you for listening. We are happy to take questions or run the live app.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754880"/>
            <a:ext cx="2743200" cy="274320"/>
          </a:xfrm>
          <a:prstGeom prst="rect">
            <a:avLst/>
          </a:prstGeom>
          <a:noFill/>
          <a:ln/>
        </p:spPr>
        <p:txBody>
          <a:bodyPr wrap="square" lIns="0" tIns="0" rIns="0" bIns="0" rtlCol="0" anchor="ctr"/>
          <a:lstStyle/>
          <a:p>
            <a:pPr marL="0" indent="0">
              <a:buNone/>
            </a:pPr>
            <a:r>
              <a:rPr lang="en-US" sz="1000" b="1" dirty="0">
                <a:solidFill>
                  <a:schemeClr val="tx2"/>
                </a:solidFill>
              </a:rPr>
              <a:t>TaskMate</a:t>
            </a:r>
            <a:endParaRPr lang="en-US" sz="1000" dirty="0"/>
          </a:p>
        </p:txBody>
      </p:sp>
      <p:sp>
        <p:nvSpPr>
          <p:cNvPr id="3" name="Text 1"/>
          <p:cNvSpPr>
            <a:spLocks noGrp="1"/>
          </p:cNvSpPr>
          <p:nvPr>
            <p:ph type="title" idx="101" hasCustomPrompt="1"/>
          </p:nvPr>
        </p:nvSpPr>
        <p:spPr>
          <a:xfrm>
            <a:off x="548640" y="274320"/>
            <a:ext cx="804672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4572000" cy="109728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640080" y="2514600"/>
            <a:ext cx="4572000" cy="822960"/>
          </a:xfrm>
          <a:prstGeom prst="rect">
            <a:avLst/>
          </a:prstGeom>
          <a:noFill/>
          <a:ln/>
        </p:spPr>
        <p:txBody>
          <a:bodyPr wrap="square" rtlCol="0"/>
          <a:lstStyle>
            <a:lvl1pPr marL="0" indent="0" algn="l">
              <a:buNone/>
              <a:defRPr lang="en-US" sz="2200" dirty="0">
                <a:solidFill>
                  <a:schemeClr val="bg2"/>
                </a:solidFill>
              </a:defRPr>
            </a:lvl1pPr>
          </a:lstStyle>
          <a:p>
            <a:pPr marL="0" indent="0" algn="l">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1828800"/>
            <a:ext cx="7315200" cy="914400"/>
          </a:xfrm>
          <a:prstGeom prst="rect">
            <a:avLst/>
          </a:prstGeom>
          <a:noFill/>
          <a:ln/>
        </p:spPr>
        <p:txBody>
          <a:bodyPr wrap="square" rtlCol="0"/>
          <a:lstStyle>
            <a:lvl1pPr marL="0" indent="0" algn="ctr">
              <a:buNone/>
              <a:defRPr lang="en-US" sz="5400" b="1" dirty="0">
                <a:solidFill>
                  <a:schemeClr val="bg1"/>
                </a:solidFill>
              </a:defRPr>
            </a:lvl1pPr>
          </a:lstStyle>
          <a:p>
            <a:pPr marL="0" indent="0" algn="ctr">
              <a:buNone/>
            </a:pPr>
            <a:endParaRPr lang="en-US" sz="5400" dirty="0"/>
          </a:p>
        </p:txBody>
      </p:sp>
      <p:sp>
        <p:nvSpPr>
          <p:cNvPr id="3" name="Text 0"/>
          <p:cNvSpPr>
            <a:spLocks noGrp="1"/>
          </p:cNvSpPr>
          <p:nvPr>
            <p:ph type="body" idx="101" hasCustomPrompt="1"/>
          </p:nvPr>
        </p:nvSpPr>
        <p:spPr>
          <a:xfrm>
            <a:off x="914400" y="2834640"/>
            <a:ext cx="7315200" cy="457200"/>
          </a:xfrm>
          <a:prstGeom prst="rect">
            <a:avLst/>
          </a:prstGeom>
          <a:noFill/>
          <a:ln/>
        </p:spPr>
        <p:txBody>
          <a:bodyPr wrap="square" rtlCol="0"/>
          <a:lstStyle>
            <a:lvl1pPr marL="0" indent="0" algn="ctr">
              <a:buNone/>
              <a:defRPr lang="en-US" sz="2200" dirty="0">
                <a:solidFill>
                  <a:schemeClr val="bg2"/>
                </a:solidFill>
              </a:defRPr>
            </a:lvl1pPr>
          </a:lstStyle>
          <a:p>
            <a:pPr marL="0" indent="0" algn="ctr">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7.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35.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11.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ill"/>
          <p:cNvSpPr/>
          <p:nvPr/>
        </p:nvSpPr>
        <p:spPr>
          <a:xfrm>
            <a:off x="640080" y="914400"/>
            <a:ext cx="2514600" cy="329184"/>
          </a:xfrm>
          <a:prstGeom prst="roundRect">
            <a:avLst>
              <a:gd name="adj" fmla="val 50000"/>
            </a:avLst>
          </a:prstGeom>
          <a:solidFill>
            <a:schemeClr val="bg1">
              <a:alpha val="15000"/>
            </a:schemeClr>
          </a:solidFill>
          <a:ln/>
        </p:spPr>
      </p:sp>
      <p:sp>
        <p:nvSpPr>
          <p:cNvPr id="3" name="Tag text"/>
          <p:cNvSpPr txBox="1"/>
          <p:nvPr/>
        </p:nvSpPr>
        <p:spPr>
          <a:xfrm>
            <a:off x="640080" y="914400"/>
            <a:ext cx="2514600" cy="329184"/>
          </a:xfrm>
          <a:prstGeom prst="rect">
            <a:avLst/>
          </a:prstGeom>
          <a:noFill/>
          <a:ln/>
        </p:spPr>
        <p:txBody>
          <a:bodyPr wrap="square" lIns="0" tIns="0" rIns="0" bIns="0" rtlCol="0" anchor="ctr"/>
          <a:lstStyle/>
          <a:p>
            <a:pPr marL="0" indent="0" algn="ctr">
              <a:buNone/>
            </a:pPr>
            <a:r>
              <a:rPr lang="en-US" sz="1200" dirty="0">
                <a:solidFill>
                  <a:schemeClr val="bg1"/>
                </a:solidFill>
              </a:rPr>
              <a:t>Creative Task Management App</a:t>
            </a:r>
            <a:endParaRPr lang="en-US" sz="1200" dirty="0"/>
          </a:p>
        </p:txBody>
      </p:sp>
      <p:sp>
        <p:nvSpPr>
          <p:cNvPr id="4" name="Text 0"/>
          <p:cNvSpPr>
            <a:spLocks noGrp="1"/>
          </p:cNvSpPr>
          <p:nvPr>
            <p:ph type="title" idx="100" hasCustomPrompt="1"/>
          </p:nvPr>
        </p:nvSpPr>
        <p:spPr>
          <a:xfrm>
            <a:off x="640080" y="1371600"/>
            <a:ext cx="4572000" cy="1097280"/>
          </a:xfrm>
          <a:prstGeom prst="rect">
            <a:avLst/>
          </a:prstGeom>
          <a:noFill/>
          <a:ln/>
        </p:spPr>
        <p:txBody>
          <a:bodyPr wrap="square" lIns="0" tIns="0" rIns="0" bIns="0" rtlCol="0" anchor="ctr"/>
          <a:lstStyle/>
          <a:p>
            <a:pPr marL="0" indent="0" algn="l">
              <a:buNone/>
            </a:pPr>
            <a:r>
              <a:rPr lang="en-US" sz="6000" b="1" dirty="0">
                <a:solidFill>
                  <a:schemeClr val="bg1"/>
                </a:solidFill>
              </a:rPr>
              <a:t>TaskMate</a:t>
            </a:r>
            <a:endParaRPr lang="en-US" sz="6000" dirty="0"/>
          </a:p>
        </p:txBody>
      </p:sp>
      <p:sp>
        <p:nvSpPr>
          <p:cNvPr id="5" name="Text 0"/>
          <p:cNvSpPr>
            <a:spLocks noGrp="1"/>
          </p:cNvSpPr>
          <p:nvPr>
            <p:ph type="body" idx="101" hasCustomPrompt="1"/>
          </p:nvPr>
        </p:nvSpPr>
        <p:spPr>
          <a:xfrm>
            <a:off x="640080" y="2514600"/>
            <a:ext cx="4572000" cy="822960"/>
          </a:xfrm>
          <a:prstGeom prst="rect">
            <a:avLst/>
          </a:prstGeom>
          <a:noFill/>
          <a:ln/>
        </p:spPr>
        <p:txBody>
          <a:bodyPr wrap="square" lIns="0" tIns="0" rIns="0" bIns="0" rtlCol="0" anchor="t"/>
          <a:lstStyle/>
          <a:p>
            <a:pPr marL="0" indent="0" algn="l">
              <a:buNone/>
            </a:pPr>
            <a:r>
              <a:rPr lang="en-US" sz="2200" dirty="0">
                <a:solidFill>
                  <a:schemeClr val="bg2"/>
                </a:solidFill>
              </a:rPr>
              <a:t>Plan Smart. Work Better. Achieve More.</a:t>
            </a:r>
            <a:endParaRPr lang="en-US" sz="2200" dirty="0"/>
          </a:p>
        </p:txBody>
      </p:sp>
      <p:sp>
        <p:nvSpPr>
          <p:cNvPr id="6" name="Project line"/>
          <p:cNvSpPr txBox="1"/>
          <p:nvPr/>
        </p:nvSpPr>
        <p:spPr>
          <a:xfrm>
            <a:off x="640080" y="3566160"/>
            <a:ext cx="4572000" cy="548640"/>
          </a:xfrm>
          <a:prstGeom prst="rect">
            <a:avLst/>
          </a:prstGeom>
          <a:noFill/>
          <a:ln/>
        </p:spPr>
        <p:txBody>
          <a:bodyPr wrap="square" lIns="0" tIns="0" rIns="0" bIns="0" rtlCol="0" anchor="t"/>
          <a:lstStyle/>
          <a:p>
            <a:pPr marL="0" indent="0">
              <a:buNone/>
            </a:pPr>
            <a:r>
              <a:rPr lang="en-US" sz="1400" dirty="0">
                <a:solidFill>
                  <a:schemeClr val="bg2"/>
                </a:solidFill>
              </a:rPr>
              <a:t>Mini Project  |  Team of 6 members</a:t>
            </a:r>
            <a:endParaRPr lang="en-US" sz="1400" dirty="0"/>
          </a:p>
          <a:p>
            <a:pPr marL="0" indent="0">
              <a:buNone/>
            </a:pPr>
            <a:r>
              <a:rPr lang="en-US" sz="1400" dirty="0">
                <a:solidFill>
                  <a:schemeClr val="bg2"/>
                </a:solidFill>
              </a:rPr>
              <a:t>HTML  ·  CSS  ·  JavaScript</a:t>
            </a:r>
            <a:endParaRPr lang="en-US" sz="1400" dirty="0"/>
          </a:p>
        </p:txBody>
      </p:sp>
      <p:sp>
        <p:nvSpPr>
          <p:cNvPr id="7" name="Glass card"/>
          <p:cNvSpPr/>
          <p:nvPr/>
        </p:nvSpPr>
        <p:spPr>
          <a:xfrm>
            <a:off x="5486400" y="1188720"/>
            <a:ext cx="3200400" cy="2926080"/>
          </a:xfrm>
          <a:prstGeom prst="roundRect">
            <a:avLst>
              <a:gd name="adj" fmla="val 6250"/>
            </a:avLst>
          </a:prstGeom>
          <a:solidFill>
            <a:schemeClr val="bg1">
              <a:alpha val="10000"/>
            </a:schemeClr>
          </a:solidFill>
          <a:ln w="12700">
            <a:solidFill>
              <a:schemeClr val="bg1">
                <a:alpha val="30000"/>
              </a:schemeClr>
            </a:solidFill>
            <a:prstDash val="solid"/>
          </a:ln>
        </p:spPr>
      </p:sp>
      <p:sp>
        <p:nvSpPr>
          <p:cNvPr id="8" name="Glass card title"/>
          <p:cNvSpPr txBox="1"/>
          <p:nvPr/>
        </p:nvSpPr>
        <p:spPr>
          <a:xfrm>
            <a:off x="5760720" y="1389888"/>
            <a:ext cx="2651760" cy="274320"/>
          </a:xfrm>
          <a:prstGeom prst="rect">
            <a:avLst/>
          </a:prstGeom>
          <a:noFill/>
          <a:ln/>
        </p:spPr>
        <p:txBody>
          <a:bodyPr wrap="square" lIns="0" tIns="0" rIns="0" bIns="0" rtlCol="0" anchor="t"/>
          <a:lstStyle/>
          <a:p>
            <a:pPr marL="0" indent="0">
              <a:buNone/>
            </a:pPr>
            <a:r>
              <a:rPr lang="en-US" sz="1600" b="1" dirty="0">
                <a:solidFill>
                  <a:schemeClr val="bg1"/>
                </a:solidFill>
              </a:rPr>
              <a:t>Today</a:t>
            </a:r>
            <a:endParaRPr lang="en-US" sz="1600" dirty="0"/>
          </a:p>
        </p:txBody>
      </p:sp>
      <p:sp>
        <p:nvSpPr>
          <p:cNvPr id="9" name="Check done"/>
          <p:cNvSpPr/>
          <p:nvPr/>
        </p:nvSpPr>
        <p:spPr>
          <a:xfrm>
            <a:off x="5760720" y="1965960"/>
            <a:ext cx="274320" cy="274320"/>
          </a:xfrm>
          <a:prstGeom prst="ellipse">
            <a:avLst/>
          </a:prstGeom>
          <a:solidFill>
            <a:schemeClr val="accent2"/>
          </a:solidFill>
          <a:ln/>
        </p:spPr>
      </p:sp>
      <p:pic>
        <p:nvPicPr>
          <p:cNvPr id="10" name="Icon FiCheck" descr="Check icon"/>
          <p:cNvPicPr>
            <a:picLocks noChangeAspect="1"/>
          </p:cNvPicPr>
          <p:nvPr/>
        </p:nvPicPr>
        <p:blipFill>
          <a:blip r:embed="rId3"/>
          <a:stretch>
            <a:fillRect/>
          </a:stretch>
        </p:blipFill>
        <p:spPr>
          <a:xfrm>
            <a:off x="5815584" y="2020824"/>
            <a:ext cx="164592" cy="164592"/>
          </a:xfrm>
          <a:prstGeom prst="rect">
            <a:avLst/>
          </a:prstGeom>
        </p:spPr>
      </p:pic>
      <p:sp>
        <p:nvSpPr>
          <p:cNvPr id="11" name="Glass task 1"/>
          <p:cNvSpPr txBox="1"/>
          <p:nvPr/>
        </p:nvSpPr>
        <p:spPr>
          <a:xfrm>
            <a:off x="6172200" y="1965960"/>
            <a:ext cx="2286000" cy="274320"/>
          </a:xfrm>
          <a:prstGeom prst="rect">
            <a:avLst/>
          </a:prstGeom>
          <a:noFill/>
          <a:ln/>
        </p:spPr>
        <p:txBody>
          <a:bodyPr wrap="square" lIns="0" tIns="0" rIns="0" bIns="0" rtlCol="0" anchor="ctr"/>
          <a:lstStyle/>
          <a:p>
            <a:pPr marL="0" indent="0">
              <a:buNone/>
            </a:pPr>
            <a:r>
              <a:rPr lang="en-US" sz="1400" dirty="0">
                <a:solidFill>
                  <a:schemeClr val="bg1"/>
                </a:solidFill>
              </a:rPr>
              <a:t>Revise Maths Unit 3</a:t>
            </a:r>
            <a:endParaRPr lang="en-US" sz="1400" dirty="0"/>
          </a:p>
        </p:txBody>
      </p:sp>
      <p:sp>
        <p:nvSpPr>
          <p:cNvPr id="12" name="Check open"/>
          <p:cNvSpPr/>
          <p:nvPr/>
        </p:nvSpPr>
        <p:spPr>
          <a:xfrm>
            <a:off x="5760720" y="2468880"/>
            <a:ext cx="274320" cy="274320"/>
          </a:xfrm>
          <a:prstGeom prst="ellipse">
            <a:avLst/>
          </a:prstGeom>
          <a:ln w="19050">
            <a:solidFill>
              <a:schemeClr val="bg1"/>
            </a:solidFill>
            <a:prstDash val="solid"/>
          </a:ln>
        </p:spPr>
      </p:sp>
      <p:sp>
        <p:nvSpPr>
          <p:cNvPr id="13" name="Glass task 2"/>
          <p:cNvSpPr txBox="1"/>
          <p:nvPr/>
        </p:nvSpPr>
        <p:spPr>
          <a:xfrm>
            <a:off x="6172200" y="2468880"/>
            <a:ext cx="2286000" cy="274320"/>
          </a:xfrm>
          <a:prstGeom prst="rect">
            <a:avLst/>
          </a:prstGeom>
          <a:noFill/>
          <a:ln/>
        </p:spPr>
        <p:txBody>
          <a:bodyPr wrap="square" lIns="0" tIns="0" rIns="0" bIns="0" rtlCol="0" anchor="ctr"/>
          <a:lstStyle/>
          <a:p>
            <a:pPr marL="0" indent="0">
              <a:buNone/>
            </a:pPr>
            <a:r>
              <a:rPr lang="en-US" sz="1400" dirty="0">
                <a:solidFill>
                  <a:schemeClr val="bg1"/>
                </a:solidFill>
              </a:rPr>
              <a:t>Physics Internal Exam</a:t>
            </a:r>
            <a:endParaRPr lang="en-US" sz="1400" dirty="0"/>
          </a:p>
        </p:txBody>
      </p:sp>
      <p:sp>
        <p:nvSpPr>
          <p:cNvPr id="14" name="Check open"/>
          <p:cNvSpPr/>
          <p:nvPr/>
        </p:nvSpPr>
        <p:spPr>
          <a:xfrm>
            <a:off x="5760720" y="2971800"/>
            <a:ext cx="274320" cy="274320"/>
          </a:xfrm>
          <a:prstGeom prst="ellipse">
            <a:avLst/>
          </a:prstGeom>
          <a:ln w="19050">
            <a:solidFill>
              <a:schemeClr val="bg1"/>
            </a:solidFill>
            <a:prstDash val="solid"/>
          </a:ln>
        </p:spPr>
      </p:sp>
      <p:sp>
        <p:nvSpPr>
          <p:cNvPr id="15" name="Glass task 3"/>
          <p:cNvSpPr txBox="1"/>
          <p:nvPr/>
        </p:nvSpPr>
        <p:spPr>
          <a:xfrm>
            <a:off x="6172200" y="2971800"/>
            <a:ext cx="2286000" cy="274320"/>
          </a:xfrm>
          <a:prstGeom prst="rect">
            <a:avLst/>
          </a:prstGeom>
          <a:noFill/>
          <a:ln/>
        </p:spPr>
        <p:txBody>
          <a:bodyPr wrap="square" lIns="0" tIns="0" rIns="0" bIns="0" rtlCol="0" anchor="ctr"/>
          <a:lstStyle/>
          <a:p>
            <a:pPr marL="0" indent="0">
              <a:buNone/>
            </a:pPr>
            <a:r>
              <a:rPr lang="en-US" sz="1400" dirty="0">
                <a:solidFill>
                  <a:schemeClr val="bg1"/>
                </a:solidFill>
              </a:rPr>
              <a:t>Football Practice</a:t>
            </a:r>
            <a:endParaRPr lang="en-US" sz="1400" dirty="0"/>
          </a:p>
        </p:txBody>
      </p:sp>
      <p:sp>
        <p:nvSpPr>
          <p:cNvPr id="16" name="Progress label"/>
          <p:cNvSpPr txBox="1"/>
          <p:nvPr/>
        </p:nvSpPr>
        <p:spPr>
          <a:xfrm>
            <a:off x="5760720" y="3520440"/>
            <a:ext cx="1645920" cy="228600"/>
          </a:xfrm>
          <a:prstGeom prst="rect">
            <a:avLst/>
          </a:prstGeom>
          <a:noFill/>
          <a:ln/>
        </p:spPr>
        <p:txBody>
          <a:bodyPr wrap="square" lIns="0" tIns="0" rIns="0" bIns="0" rtlCol="0" anchor="t"/>
          <a:lstStyle/>
          <a:p>
            <a:pPr marL="0" indent="0">
              <a:buNone/>
            </a:pPr>
            <a:r>
              <a:rPr lang="en-US" sz="1200" dirty="0">
                <a:solidFill>
                  <a:schemeClr val="bg2"/>
                </a:solidFill>
              </a:rPr>
              <a:t>Overall progress</a:t>
            </a:r>
            <a:endParaRPr lang="en-US" sz="1200" dirty="0"/>
          </a:p>
        </p:txBody>
      </p:sp>
      <p:sp>
        <p:nvSpPr>
          <p:cNvPr id="17" name="Progress value"/>
          <p:cNvSpPr txBox="1"/>
          <p:nvPr/>
        </p:nvSpPr>
        <p:spPr>
          <a:xfrm>
            <a:off x="7498080" y="3520440"/>
            <a:ext cx="914400" cy="228600"/>
          </a:xfrm>
          <a:prstGeom prst="rect">
            <a:avLst/>
          </a:prstGeom>
          <a:noFill/>
          <a:ln/>
        </p:spPr>
        <p:txBody>
          <a:bodyPr wrap="square" lIns="0" tIns="0" rIns="0" bIns="0" rtlCol="0" anchor="t"/>
          <a:lstStyle/>
          <a:p>
            <a:pPr marL="0" indent="0" algn="r">
              <a:buNone/>
            </a:pPr>
            <a:r>
              <a:rPr lang="en-US" sz="1200" b="1" dirty="0">
                <a:solidFill>
                  <a:schemeClr val="bg1"/>
                </a:solidFill>
              </a:rPr>
              <a:t>33%</a:t>
            </a:r>
            <a:endParaRPr lang="en-US" sz="1200" dirty="0"/>
          </a:p>
        </p:txBody>
      </p:sp>
      <p:sp>
        <p:nvSpPr>
          <p:cNvPr id="18" name="Progress track"/>
          <p:cNvSpPr/>
          <p:nvPr/>
        </p:nvSpPr>
        <p:spPr>
          <a:xfrm>
            <a:off x="5760720" y="3840480"/>
            <a:ext cx="2651760" cy="128016"/>
          </a:xfrm>
          <a:prstGeom prst="roundRect">
            <a:avLst>
              <a:gd name="adj" fmla="val 50000"/>
            </a:avLst>
          </a:prstGeom>
          <a:solidFill>
            <a:schemeClr val="bg1">
              <a:alpha val="25000"/>
            </a:schemeClr>
          </a:solidFill>
          <a:ln/>
        </p:spPr>
      </p:sp>
      <p:sp>
        <p:nvSpPr>
          <p:cNvPr id="19" name="Progress fill"/>
          <p:cNvSpPr/>
          <p:nvPr/>
        </p:nvSpPr>
        <p:spPr>
          <a:xfrm>
            <a:off x="5760720" y="3840480"/>
            <a:ext cx="877824" cy="128016"/>
          </a:xfrm>
          <a:prstGeom prst="roundRect">
            <a:avLst>
              <a:gd name="adj" fmla="val 50000"/>
            </a:avLst>
          </a:prstGeom>
          <a:solidFill>
            <a:schemeClr val="accent2"/>
          </a:solidFill>
          <a:ln/>
        </p:spPr>
      </p:sp>
      <p:sp>
        <p:nvSpPr>
          <p:cNvPr id="20" name="Floating pill Design Home Page"/>
          <p:cNvSpPr/>
          <p:nvPr/>
        </p:nvSpPr>
        <p:spPr>
          <a:xfrm rot="-240000">
            <a:off x="5074920" y="548640"/>
            <a:ext cx="182880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21" name="Floating pill text Design Home Page"/>
          <p:cNvSpPr txBox="1"/>
          <p:nvPr/>
        </p:nvSpPr>
        <p:spPr>
          <a:xfrm rot="-240000">
            <a:off x="5074920" y="548640"/>
            <a:ext cx="1828800" cy="365760"/>
          </a:xfrm>
          <a:prstGeom prst="rect">
            <a:avLst/>
          </a:prstGeom>
          <a:noFill/>
          <a:ln/>
        </p:spPr>
        <p:txBody>
          <a:bodyPr wrap="square" lIns="0" tIns="0" rIns="0" bIns="0" rtlCol="0" anchor="ctr"/>
          <a:lstStyle/>
          <a:p>
            <a:pPr marL="0" indent="0" algn="ctr">
              <a:buNone/>
            </a:pPr>
            <a:r>
              <a:rPr lang="en-US" sz="1200" dirty="0">
                <a:solidFill>
                  <a:schemeClr val="bg1"/>
                </a:solidFill>
              </a:rPr>
              <a:t>Design Home Page</a:t>
            </a:r>
            <a:endParaRPr lang="en-US" sz="1200" dirty="0"/>
          </a:p>
        </p:txBody>
      </p:sp>
      <p:sp>
        <p:nvSpPr>
          <p:cNvPr id="22" name="Floating pill Submit Report"/>
          <p:cNvSpPr/>
          <p:nvPr/>
        </p:nvSpPr>
        <p:spPr>
          <a:xfrm rot="300000">
            <a:off x="6858000" y="457200"/>
            <a:ext cx="173736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23" name="Floating pill text Submit Report"/>
          <p:cNvSpPr txBox="1"/>
          <p:nvPr/>
        </p:nvSpPr>
        <p:spPr>
          <a:xfrm rot="300000">
            <a:off x="6858000" y="457200"/>
            <a:ext cx="1737360" cy="365760"/>
          </a:xfrm>
          <a:prstGeom prst="rect">
            <a:avLst/>
          </a:prstGeom>
          <a:noFill/>
          <a:ln/>
        </p:spPr>
        <p:txBody>
          <a:bodyPr wrap="square" lIns="0" tIns="0" rIns="0" bIns="0" rtlCol="0" anchor="ctr"/>
          <a:lstStyle/>
          <a:p>
            <a:pPr marL="0" indent="0" algn="ctr">
              <a:buNone/>
            </a:pPr>
            <a:r>
              <a:rPr lang="en-US" sz="1200" dirty="0">
                <a:solidFill>
                  <a:schemeClr val="bg1"/>
                </a:solidFill>
              </a:rPr>
              <a:t>Submit Report</a:t>
            </a:r>
            <a:endParaRPr lang="en-US" sz="1200" dirty="0"/>
          </a:p>
        </p:txBody>
      </p:sp>
      <p:sp>
        <p:nvSpPr>
          <p:cNvPr id="24" name="Floating pill Build Dashboard"/>
          <p:cNvSpPr/>
          <p:nvPr/>
        </p:nvSpPr>
        <p:spPr>
          <a:xfrm rot="180000">
            <a:off x="4937760" y="4389120"/>
            <a:ext cx="182880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25" name="Floating pill text Build Dashboard"/>
          <p:cNvSpPr txBox="1"/>
          <p:nvPr/>
        </p:nvSpPr>
        <p:spPr>
          <a:xfrm rot="180000">
            <a:off x="4937760" y="4389120"/>
            <a:ext cx="1828800" cy="365760"/>
          </a:xfrm>
          <a:prstGeom prst="rect">
            <a:avLst/>
          </a:prstGeom>
          <a:noFill/>
          <a:ln/>
        </p:spPr>
        <p:txBody>
          <a:bodyPr wrap="square" lIns="0" tIns="0" rIns="0" bIns="0" rtlCol="0" anchor="ctr"/>
          <a:lstStyle/>
          <a:p>
            <a:pPr marL="0" indent="0" algn="ctr">
              <a:buNone/>
            </a:pPr>
            <a:r>
              <a:rPr lang="en-US" sz="1200" dirty="0">
                <a:solidFill>
                  <a:schemeClr val="bg1"/>
                </a:solidFill>
              </a:rPr>
              <a:t>Build Dashboard</a:t>
            </a:r>
            <a:endParaRPr lang="en-US" sz="1200" dirty="0"/>
          </a:p>
        </p:txBody>
      </p:sp>
      <p:sp>
        <p:nvSpPr>
          <p:cNvPr id="26" name="Floating pill Team Meeting"/>
          <p:cNvSpPr/>
          <p:nvPr/>
        </p:nvSpPr>
        <p:spPr>
          <a:xfrm rot="-300000">
            <a:off x="7040880" y="4297680"/>
            <a:ext cx="164592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27" name="Floating pill text Team Meeting"/>
          <p:cNvSpPr txBox="1"/>
          <p:nvPr/>
        </p:nvSpPr>
        <p:spPr>
          <a:xfrm rot="-300000">
            <a:off x="7040880" y="4297680"/>
            <a:ext cx="1645920" cy="365760"/>
          </a:xfrm>
          <a:prstGeom prst="rect">
            <a:avLst/>
          </a:prstGeom>
          <a:noFill/>
          <a:ln/>
        </p:spPr>
        <p:txBody>
          <a:bodyPr wrap="square" lIns="0" tIns="0" rIns="0" bIns="0" rtlCol="0" anchor="ctr"/>
          <a:lstStyle/>
          <a:p>
            <a:pPr marL="0" indent="0" algn="ctr">
              <a:buNone/>
            </a:pPr>
            <a:r>
              <a:rPr lang="en-US" sz="1200" dirty="0">
                <a:solidFill>
                  <a:schemeClr val="bg1"/>
                </a:solidFill>
              </a:rPr>
              <a:t>Team Meeting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Project overview</a:t>
            </a: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pic>
        <p:nvPicPr>
          <p:cNvPr id="50" name="Project overview" descr="Four overview slides: introduction, problem statement, objectives, and target users and benefits"/>
          <p:cNvPicPr>
            <a:picLocks noChangeAspect="1"/>
          </p:cNvPicPr>
          <p:nvPr/>
        </p:nvPicPr>
        <p:blipFill>
          <a:blip r:embed="rId2"/>
          <a:stretch>
            <a:fillRect/>
          </a:stretch>
        </p:blipFill>
        <p:spPr>
          <a:xfrm>
            <a:off x="1760221" y="1005840"/>
            <a:ext cx="5623558" cy="3749039"/>
          </a:xfrm>
          <a:prstGeom prst="roundRect">
            <a:avLst>
              <a:gd name="adj" fmla="val 2000"/>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Requirements and user stories</a:t>
            </a: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pic>
        <p:nvPicPr>
          <p:cNvPr id="50" name="Requirements and user stories" descr="TaskMate requirements: eight functional requirements, eight non-functional requirements, and five user stories with acceptance criteria"/>
          <p:cNvPicPr>
            <a:picLocks noChangeAspect="1"/>
          </p:cNvPicPr>
          <p:nvPr/>
        </p:nvPicPr>
        <p:blipFill>
          <a:blip r:embed="rId2"/>
          <a:stretch>
            <a:fillRect/>
          </a:stretch>
        </p:blipFill>
        <p:spPr>
          <a:xfrm>
            <a:off x="1760221" y="1005840"/>
            <a:ext cx="5623558" cy="3749039"/>
          </a:xfrm>
          <a:prstGeom prst="roundRect">
            <a:avLst>
              <a:gd name="adj" fmla="val 2000"/>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dirty="0"/>
              <a:t>SDLC MODEL</a:t>
            </a:r>
            <a:endParaRPr lang="en-US" sz="3600" dirty="0"/>
          </a:p>
        </p:txBody>
      </p:sp>
      <p:sp>
        <p:nvSpPr>
          <p:cNvPr id="3" name="Phase card Planning"/>
          <p:cNvSpPr/>
          <p:nvPr/>
        </p:nvSpPr>
        <p:spPr>
          <a:xfrm>
            <a:off x="548640" y="1143000"/>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4" name="Icon circle FiTarget"/>
          <p:cNvSpPr/>
          <p:nvPr/>
        </p:nvSpPr>
        <p:spPr>
          <a:xfrm>
            <a:off x="731520" y="1280160"/>
            <a:ext cx="411480" cy="411480"/>
          </a:xfrm>
          <a:prstGeom prst="ellipse">
            <a:avLst/>
          </a:prstGeom>
          <a:solidFill>
            <a:schemeClr val="accent1"/>
          </a:solidFill>
          <a:ln/>
        </p:spPr>
      </p:sp>
      <p:pic>
        <p:nvPicPr>
          <p:cNvPr id="5" name="Icon FiTarget" descr="Target icon"/>
          <p:cNvPicPr>
            <a:picLocks noChangeAspect="1"/>
          </p:cNvPicPr>
          <p:nvPr/>
        </p:nvPicPr>
        <p:blipFill>
          <a:blip r:embed="rId3"/>
          <a:stretch>
            <a:fillRect/>
          </a:stretch>
        </p:blipFill>
        <p:spPr>
          <a:xfrm>
            <a:off x="834390" y="1383030"/>
            <a:ext cx="205740" cy="205740"/>
          </a:xfrm>
          <a:prstGeom prst="rect">
            <a:avLst/>
          </a:prstGeom>
        </p:spPr>
      </p:pic>
      <p:sp>
        <p:nvSpPr>
          <p:cNvPr id="6" name="Phase number 1"/>
          <p:cNvSpPr txBox="1"/>
          <p:nvPr/>
        </p:nvSpPr>
        <p:spPr>
          <a:xfrm>
            <a:off x="1920240" y="1280160"/>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1</a:t>
            </a:r>
            <a:endParaRPr lang="en-US" sz="2000" dirty="0"/>
          </a:p>
        </p:txBody>
      </p:sp>
      <p:sp>
        <p:nvSpPr>
          <p:cNvPr id="7" name="Phase name 1"/>
          <p:cNvSpPr txBox="1"/>
          <p:nvPr/>
        </p:nvSpPr>
        <p:spPr>
          <a:xfrm>
            <a:off x="731520" y="1764792"/>
            <a:ext cx="1691640" cy="274320"/>
          </a:xfrm>
          <a:prstGeom prst="rect">
            <a:avLst/>
          </a:prstGeom>
          <a:noFill/>
          <a:ln/>
        </p:spPr>
        <p:txBody>
          <a:bodyPr wrap="square" lIns="0" tIns="0" rIns="0" bIns="0" rtlCol="0" anchor="t"/>
          <a:lstStyle/>
          <a:p>
            <a:pPr marL="0" indent="0">
              <a:buNone/>
            </a:pPr>
            <a:r>
              <a:rPr lang="en-US" sz="1400" b="1" dirty="0">
                <a:solidFill>
                  <a:schemeClr val="tx1"/>
                </a:solidFill>
              </a:rPr>
              <a:t>Planning</a:t>
            </a:r>
            <a:endParaRPr lang="en-US" sz="1400" dirty="0"/>
          </a:p>
        </p:txBody>
      </p:sp>
      <p:sp>
        <p:nvSpPr>
          <p:cNvPr id="8" name="Phase text 1"/>
          <p:cNvSpPr txBox="1"/>
          <p:nvPr/>
        </p:nvSpPr>
        <p:spPr>
          <a:xfrm>
            <a:off x="731520" y="2057400"/>
            <a:ext cx="1645920" cy="658368"/>
          </a:xfrm>
          <a:prstGeom prst="rect">
            <a:avLst/>
          </a:prstGeom>
          <a:noFill/>
          <a:ln/>
        </p:spPr>
        <p:txBody>
          <a:bodyPr wrap="square" lIns="0" tIns="0" rIns="0" bIns="0" rtlCol="0" anchor="t"/>
          <a:lstStyle/>
          <a:p>
            <a:pPr marL="0" indent="0">
              <a:buNone/>
            </a:pPr>
            <a:r>
              <a:rPr lang="en-US" sz="1400" dirty="0">
                <a:solidFill>
                  <a:schemeClr val="tx2"/>
                </a:solidFill>
              </a:rPr>
              <a:t>Identify the problem and project objectives</a:t>
            </a:r>
            <a:endParaRPr lang="en-US" sz="1400" dirty="0"/>
          </a:p>
        </p:txBody>
      </p:sp>
      <p:pic>
        <p:nvPicPr>
          <p:cNvPr id="9" name="Icon FiChevronRight" descr="ChevronRight icon"/>
          <p:cNvPicPr>
            <a:picLocks noChangeAspect="1"/>
          </p:cNvPicPr>
          <p:nvPr/>
        </p:nvPicPr>
        <p:blipFill>
          <a:blip r:embed="rId4"/>
          <a:stretch>
            <a:fillRect/>
          </a:stretch>
        </p:blipFill>
        <p:spPr>
          <a:xfrm>
            <a:off x="2468880" y="1691640"/>
            <a:ext cx="182880" cy="182880"/>
          </a:xfrm>
          <a:prstGeom prst="rect">
            <a:avLst/>
          </a:prstGeom>
        </p:spPr>
      </p:pic>
      <p:sp>
        <p:nvSpPr>
          <p:cNvPr id="10" name="Phase card Requirement Analysis"/>
          <p:cNvSpPr/>
          <p:nvPr/>
        </p:nvSpPr>
        <p:spPr>
          <a:xfrm>
            <a:off x="2651760" y="1143000"/>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11" name="Icon circle FiUsers"/>
          <p:cNvSpPr/>
          <p:nvPr/>
        </p:nvSpPr>
        <p:spPr>
          <a:xfrm>
            <a:off x="2834640" y="1280160"/>
            <a:ext cx="411480" cy="411480"/>
          </a:xfrm>
          <a:prstGeom prst="ellipse">
            <a:avLst/>
          </a:prstGeom>
          <a:solidFill>
            <a:schemeClr val="accent1"/>
          </a:solidFill>
          <a:ln/>
        </p:spPr>
      </p:sp>
      <p:pic>
        <p:nvPicPr>
          <p:cNvPr id="12" name="Icon FiUsers" descr="Users icon"/>
          <p:cNvPicPr>
            <a:picLocks noChangeAspect="1"/>
          </p:cNvPicPr>
          <p:nvPr/>
        </p:nvPicPr>
        <p:blipFill>
          <a:blip r:embed="rId5"/>
          <a:stretch>
            <a:fillRect/>
          </a:stretch>
        </p:blipFill>
        <p:spPr>
          <a:xfrm>
            <a:off x="2937510" y="1383030"/>
            <a:ext cx="205740" cy="205740"/>
          </a:xfrm>
          <a:prstGeom prst="rect">
            <a:avLst/>
          </a:prstGeom>
        </p:spPr>
      </p:pic>
      <p:sp>
        <p:nvSpPr>
          <p:cNvPr id="13" name="Phase number 2"/>
          <p:cNvSpPr txBox="1"/>
          <p:nvPr/>
        </p:nvSpPr>
        <p:spPr>
          <a:xfrm>
            <a:off x="4023360" y="1280160"/>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2</a:t>
            </a:r>
            <a:endParaRPr lang="en-US" sz="2000" dirty="0"/>
          </a:p>
        </p:txBody>
      </p:sp>
      <p:sp>
        <p:nvSpPr>
          <p:cNvPr id="14" name="Phase name 2"/>
          <p:cNvSpPr txBox="1"/>
          <p:nvPr/>
        </p:nvSpPr>
        <p:spPr>
          <a:xfrm>
            <a:off x="2834640" y="1764792"/>
            <a:ext cx="1691640" cy="274320"/>
          </a:xfrm>
          <a:prstGeom prst="rect">
            <a:avLst/>
          </a:prstGeom>
          <a:noFill/>
          <a:ln/>
        </p:spPr>
        <p:txBody>
          <a:bodyPr wrap="square" lIns="0" tIns="0" rIns="0" bIns="0" rtlCol="0" anchor="t"/>
          <a:lstStyle/>
          <a:p>
            <a:pPr marL="0" indent="0">
              <a:buNone/>
            </a:pPr>
            <a:r>
              <a:rPr lang="en-US" sz="1400" b="1" dirty="0">
                <a:solidFill>
                  <a:schemeClr val="tx1"/>
                </a:solidFill>
              </a:rPr>
              <a:t>Requirement Analysis</a:t>
            </a:r>
            <a:endParaRPr lang="en-US" sz="1400" dirty="0"/>
          </a:p>
        </p:txBody>
      </p:sp>
      <p:sp>
        <p:nvSpPr>
          <p:cNvPr id="15" name="Phase text 2"/>
          <p:cNvSpPr txBox="1"/>
          <p:nvPr/>
        </p:nvSpPr>
        <p:spPr>
          <a:xfrm>
            <a:off x="2834640" y="2057400"/>
            <a:ext cx="1645920" cy="658368"/>
          </a:xfrm>
          <a:prstGeom prst="rect">
            <a:avLst/>
          </a:prstGeom>
          <a:noFill/>
          <a:ln/>
        </p:spPr>
        <p:txBody>
          <a:bodyPr wrap="square" lIns="0" tIns="0" rIns="0" bIns="0" rtlCol="0" anchor="t"/>
          <a:lstStyle/>
          <a:p>
            <a:pPr marL="0" indent="0">
              <a:buNone/>
            </a:pPr>
            <a:r>
              <a:rPr lang="en-US" sz="1400" dirty="0">
                <a:solidFill>
                  <a:schemeClr val="tx2"/>
                </a:solidFill>
              </a:rPr>
              <a:t>Identify user needs and system requirements</a:t>
            </a:r>
            <a:endParaRPr lang="en-US" sz="1400" dirty="0"/>
          </a:p>
        </p:txBody>
      </p:sp>
      <p:pic>
        <p:nvPicPr>
          <p:cNvPr id="16" name="Icon FiChevronRight" descr="ChevronRight icon"/>
          <p:cNvPicPr>
            <a:picLocks noChangeAspect="1"/>
          </p:cNvPicPr>
          <p:nvPr/>
        </p:nvPicPr>
        <p:blipFill>
          <a:blip r:embed="rId4"/>
          <a:stretch>
            <a:fillRect/>
          </a:stretch>
        </p:blipFill>
        <p:spPr>
          <a:xfrm>
            <a:off x="4572000" y="1691640"/>
            <a:ext cx="182880" cy="182880"/>
          </a:xfrm>
          <a:prstGeom prst="rect">
            <a:avLst/>
          </a:prstGeom>
        </p:spPr>
      </p:pic>
      <p:sp>
        <p:nvSpPr>
          <p:cNvPr id="17" name="Phase card System Design"/>
          <p:cNvSpPr/>
          <p:nvPr/>
        </p:nvSpPr>
        <p:spPr>
          <a:xfrm>
            <a:off x="4754880" y="1143000"/>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18" name="Icon circle FiLayout"/>
          <p:cNvSpPr/>
          <p:nvPr/>
        </p:nvSpPr>
        <p:spPr>
          <a:xfrm>
            <a:off x="4937760" y="1280160"/>
            <a:ext cx="411480" cy="411480"/>
          </a:xfrm>
          <a:prstGeom prst="ellipse">
            <a:avLst/>
          </a:prstGeom>
          <a:solidFill>
            <a:schemeClr val="accent1"/>
          </a:solidFill>
          <a:ln/>
        </p:spPr>
      </p:sp>
      <p:pic>
        <p:nvPicPr>
          <p:cNvPr id="19" name="Icon FiLayout" descr="Layout icon"/>
          <p:cNvPicPr>
            <a:picLocks noChangeAspect="1"/>
          </p:cNvPicPr>
          <p:nvPr/>
        </p:nvPicPr>
        <p:blipFill>
          <a:blip r:embed="rId6"/>
          <a:stretch>
            <a:fillRect/>
          </a:stretch>
        </p:blipFill>
        <p:spPr>
          <a:xfrm>
            <a:off x="5040630" y="1383030"/>
            <a:ext cx="205740" cy="205740"/>
          </a:xfrm>
          <a:prstGeom prst="rect">
            <a:avLst/>
          </a:prstGeom>
        </p:spPr>
      </p:pic>
      <p:sp>
        <p:nvSpPr>
          <p:cNvPr id="20" name="Phase number 3"/>
          <p:cNvSpPr txBox="1"/>
          <p:nvPr/>
        </p:nvSpPr>
        <p:spPr>
          <a:xfrm>
            <a:off x="6126480" y="1280160"/>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3</a:t>
            </a:r>
            <a:endParaRPr lang="en-US" sz="2000" dirty="0"/>
          </a:p>
        </p:txBody>
      </p:sp>
      <p:sp>
        <p:nvSpPr>
          <p:cNvPr id="21" name="Phase name 3"/>
          <p:cNvSpPr txBox="1"/>
          <p:nvPr/>
        </p:nvSpPr>
        <p:spPr>
          <a:xfrm>
            <a:off x="4937760" y="1764792"/>
            <a:ext cx="1691640" cy="274320"/>
          </a:xfrm>
          <a:prstGeom prst="rect">
            <a:avLst/>
          </a:prstGeom>
          <a:noFill/>
          <a:ln/>
        </p:spPr>
        <p:txBody>
          <a:bodyPr wrap="square" lIns="0" tIns="0" rIns="0" bIns="0" rtlCol="0" anchor="t"/>
          <a:lstStyle/>
          <a:p>
            <a:pPr marL="0" indent="0">
              <a:buNone/>
            </a:pPr>
            <a:r>
              <a:rPr lang="en-US" sz="1400" b="1" dirty="0">
                <a:solidFill>
                  <a:schemeClr val="tx1"/>
                </a:solidFill>
              </a:rPr>
              <a:t>System Design</a:t>
            </a:r>
            <a:endParaRPr lang="en-US" sz="1400" dirty="0"/>
          </a:p>
        </p:txBody>
      </p:sp>
      <p:sp>
        <p:nvSpPr>
          <p:cNvPr id="22" name="Phase text 3"/>
          <p:cNvSpPr txBox="1"/>
          <p:nvPr/>
        </p:nvSpPr>
        <p:spPr>
          <a:xfrm>
            <a:off x="4937760" y="2057400"/>
            <a:ext cx="1645920" cy="658368"/>
          </a:xfrm>
          <a:prstGeom prst="rect">
            <a:avLst/>
          </a:prstGeom>
          <a:noFill/>
          <a:ln/>
        </p:spPr>
        <p:txBody>
          <a:bodyPr wrap="square" lIns="0" tIns="0" rIns="0" bIns="0" rtlCol="0" anchor="t"/>
          <a:lstStyle/>
          <a:p>
            <a:pPr marL="0" indent="0">
              <a:buNone/>
            </a:pPr>
            <a:r>
              <a:rPr lang="en-US" sz="1400" dirty="0">
                <a:solidFill>
                  <a:schemeClr val="tx2"/>
                </a:solidFill>
              </a:rPr>
              <a:t>Design the user interface, database and workflow</a:t>
            </a:r>
            <a:endParaRPr lang="en-US" sz="1400" dirty="0"/>
          </a:p>
        </p:txBody>
      </p:sp>
      <p:pic>
        <p:nvPicPr>
          <p:cNvPr id="23" name="Icon FiChevronRight" descr="ChevronRight icon"/>
          <p:cNvPicPr>
            <a:picLocks noChangeAspect="1"/>
          </p:cNvPicPr>
          <p:nvPr/>
        </p:nvPicPr>
        <p:blipFill>
          <a:blip r:embed="rId4"/>
          <a:stretch>
            <a:fillRect/>
          </a:stretch>
        </p:blipFill>
        <p:spPr>
          <a:xfrm>
            <a:off x="6675120" y="1691640"/>
            <a:ext cx="182880" cy="182880"/>
          </a:xfrm>
          <a:prstGeom prst="rect">
            <a:avLst/>
          </a:prstGeom>
        </p:spPr>
      </p:pic>
      <p:sp>
        <p:nvSpPr>
          <p:cNvPr id="24" name="Phase card Development"/>
          <p:cNvSpPr/>
          <p:nvPr/>
        </p:nvSpPr>
        <p:spPr>
          <a:xfrm>
            <a:off x="6858000" y="1143000"/>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25" name="Icon circle FiCode"/>
          <p:cNvSpPr/>
          <p:nvPr/>
        </p:nvSpPr>
        <p:spPr>
          <a:xfrm>
            <a:off x="7040880" y="1280160"/>
            <a:ext cx="411480" cy="411480"/>
          </a:xfrm>
          <a:prstGeom prst="ellipse">
            <a:avLst/>
          </a:prstGeom>
          <a:solidFill>
            <a:schemeClr val="accent1"/>
          </a:solidFill>
          <a:ln/>
        </p:spPr>
      </p:sp>
      <p:pic>
        <p:nvPicPr>
          <p:cNvPr id="26" name="Icon FiCode" descr="Code icon"/>
          <p:cNvPicPr>
            <a:picLocks noChangeAspect="1"/>
          </p:cNvPicPr>
          <p:nvPr/>
        </p:nvPicPr>
        <p:blipFill>
          <a:blip r:embed="rId7"/>
          <a:stretch>
            <a:fillRect/>
          </a:stretch>
        </p:blipFill>
        <p:spPr>
          <a:xfrm>
            <a:off x="7143750" y="1383030"/>
            <a:ext cx="205740" cy="205740"/>
          </a:xfrm>
          <a:prstGeom prst="rect">
            <a:avLst/>
          </a:prstGeom>
        </p:spPr>
      </p:pic>
      <p:sp>
        <p:nvSpPr>
          <p:cNvPr id="27" name="Phase number 4"/>
          <p:cNvSpPr txBox="1"/>
          <p:nvPr/>
        </p:nvSpPr>
        <p:spPr>
          <a:xfrm>
            <a:off x="8229600" y="1280160"/>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4</a:t>
            </a:r>
            <a:endParaRPr lang="en-US" sz="2000" dirty="0"/>
          </a:p>
        </p:txBody>
      </p:sp>
      <p:sp>
        <p:nvSpPr>
          <p:cNvPr id="28" name="Phase name 4"/>
          <p:cNvSpPr txBox="1"/>
          <p:nvPr/>
        </p:nvSpPr>
        <p:spPr>
          <a:xfrm>
            <a:off x="7040880" y="1764792"/>
            <a:ext cx="1691640" cy="274320"/>
          </a:xfrm>
          <a:prstGeom prst="rect">
            <a:avLst/>
          </a:prstGeom>
          <a:noFill/>
          <a:ln/>
        </p:spPr>
        <p:txBody>
          <a:bodyPr wrap="square" lIns="0" tIns="0" rIns="0" bIns="0" rtlCol="0" anchor="t"/>
          <a:lstStyle/>
          <a:p>
            <a:pPr marL="0" indent="0">
              <a:buNone/>
            </a:pPr>
            <a:r>
              <a:rPr lang="en-US" sz="1400" b="1" dirty="0">
                <a:solidFill>
                  <a:schemeClr val="tx1"/>
                </a:solidFill>
              </a:rPr>
              <a:t>Development</a:t>
            </a:r>
            <a:endParaRPr lang="en-US" sz="1400" dirty="0"/>
          </a:p>
        </p:txBody>
      </p:sp>
      <p:sp>
        <p:nvSpPr>
          <p:cNvPr id="29" name="Phase text 4"/>
          <p:cNvSpPr txBox="1"/>
          <p:nvPr/>
        </p:nvSpPr>
        <p:spPr>
          <a:xfrm>
            <a:off x="7040880" y="2057400"/>
            <a:ext cx="1645920" cy="658368"/>
          </a:xfrm>
          <a:prstGeom prst="rect">
            <a:avLst/>
          </a:prstGeom>
          <a:noFill/>
          <a:ln/>
        </p:spPr>
        <p:txBody>
          <a:bodyPr wrap="square" lIns="0" tIns="0" rIns="0" bIns="0" rtlCol="0" anchor="t"/>
          <a:lstStyle/>
          <a:p>
            <a:pPr marL="0" indent="0">
              <a:buNone/>
            </a:pPr>
            <a:r>
              <a:rPr lang="en-US" sz="1400" dirty="0">
                <a:solidFill>
                  <a:schemeClr val="tx2"/>
                </a:solidFill>
              </a:rPr>
              <a:t>Develop task creation, assignment and tracking features</a:t>
            </a:r>
            <a:endParaRPr lang="en-US" sz="1400" dirty="0"/>
          </a:p>
        </p:txBody>
      </p:sp>
      <p:sp>
        <p:nvSpPr>
          <p:cNvPr id="30" name="Phase card Testing"/>
          <p:cNvSpPr/>
          <p:nvPr/>
        </p:nvSpPr>
        <p:spPr>
          <a:xfrm>
            <a:off x="1508760" y="2907792"/>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31" name="Icon circle FiCheckSquare"/>
          <p:cNvSpPr/>
          <p:nvPr/>
        </p:nvSpPr>
        <p:spPr>
          <a:xfrm>
            <a:off x="1691640" y="3044952"/>
            <a:ext cx="411480" cy="411480"/>
          </a:xfrm>
          <a:prstGeom prst="ellipse">
            <a:avLst/>
          </a:prstGeom>
          <a:solidFill>
            <a:schemeClr val="accent1"/>
          </a:solidFill>
          <a:ln/>
        </p:spPr>
      </p:sp>
      <p:pic>
        <p:nvPicPr>
          <p:cNvPr id="32" name="Icon FiCheckSquare" descr="CheckSquare icon"/>
          <p:cNvPicPr>
            <a:picLocks noChangeAspect="1"/>
          </p:cNvPicPr>
          <p:nvPr/>
        </p:nvPicPr>
        <p:blipFill>
          <a:blip r:embed="rId8"/>
          <a:stretch>
            <a:fillRect/>
          </a:stretch>
        </p:blipFill>
        <p:spPr>
          <a:xfrm>
            <a:off x="1794510" y="3147822"/>
            <a:ext cx="205740" cy="205740"/>
          </a:xfrm>
          <a:prstGeom prst="rect">
            <a:avLst/>
          </a:prstGeom>
        </p:spPr>
      </p:pic>
      <p:sp>
        <p:nvSpPr>
          <p:cNvPr id="33" name="Phase number 5"/>
          <p:cNvSpPr txBox="1"/>
          <p:nvPr/>
        </p:nvSpPr>
        <p:spPr>
          <a:xfrm>
            <a:off x="2880360" y="3044952"/>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5</a:t>
            </a:r>
            <a:endParaRPr lang="en-US" sz="2000" dirty="0"/>
          </a:p>
        </p:txBody>
      </p:sp>
      <p:sp>
        <p:nvSpPr>
          <p:cNvPr id="34" name="Phase name 5"/>
          <p:cNvSpPr txBox="1"/>
          <p:nvPr/>
        </p:nvSpPr>
        <p:spPr>
          <a:xfrm>
            <a:off x="1691640" y="3529584"/>
            <a:ext cx="1691640" cy="274320"/>
          </a:xfrm>
          <a:prstGeom prst="rect">
            <a:avLst/>
          </a:prstGeom>
          <a:noFill/>
          <a:ln/>
        </p:spPr>
        <p:txBody>
          <a:bodyPr wrap="square" lIns="0" tIns="0" rIns="0" bIns="0" rtlCol="0" anchor="t"/>
          <a:lstStyle/>
          <a:p>
            <a:pPr marL="0" indent="0">
              <a:buNone/>
            </a:pPr>
            <a:r>
              <a:rPr lang="en-US" sz="1400" b="1" dirty="0">
                <a:solidFill>
                  <a:schemeClr val="tx1"/>
                </a:solidFill>
              </a:rPr>
              <a:t>Testing</a:t>
            </a:r>
            <a:endParaRPr lang="en-US" sz="1400" dirty="0"/>
          </a:p>
        </p:txBody>
      </p:sp>
      <p:sp>
        <p:nvSpPr>
          <p:cNvPr id="35" name="Phase text 5"/>
          <p:cNvSpPr txBox="1"/>
          <p:nvPr/>
        </p:nvSpPr>
        <p:spPr>
          <a:xfrm>
            <a:off x="1691640" y="3822192"/>
            <a:ext cx="1645920" cy="658368"/>
          </a:xfrm>
          <a:prstGeom prst="rect">
            <a:avLst/>
          </a:prstGeom>
          <a:noFill/>
          <a:ln/>
        </p:spPr>
        <p:txBody>
          <a:bodyPr wrap="square" lIns="0" tIns="0" rIns="0" bIns="0" rtlCol="0" anchor="t"/>
          <a:lstStyle/>
          <a:p>
            <a:pPr marL="0" indent="0">
              <a:buNone/>
            </a:pPr>
            <a:r>
              <a:rPr lang="en-US" sz="1400" dirty="0">
                <a:solidFill>
                  <a:schemeClr val="tx2"/>
                </a:solidFill>
              </a:rPr>
              <a:t>Check features and fix errors</a:t>
            </a:r>
            <a:endParaRPr lang="en-US" sz="1400" dirty="0"/>
          </a:p>
        </p:txBody>
      </p:sp>
      <p:pic>
        <p:nvPicPr>
          <p:cNvPr id="36" name="Icon FiChevronRight" descr="ChevronRight icon"/>
          <p:cNvPicPr>
            <a:picLocks noChangeAspect="1"/>
          </p:cNvPicPr>
          <p:nvPr/>
        </p:nvPicPr>
        <p:blipFill>
          <a:blip r:embed="rId4"/>
          <a:stretch>
            <a:fillRect/>
          </a:stretch>
        </p:blipFill>
        <p:spPr>
          <a:xfrm>
            <a:off x="3429000" y="3456432"/>
            <a:ext cx="182880" cy="182880"/>
          </a:xfrm>
          <a:prstGeom prst="rect">
            <a:avLst/>
          </a:prstGeom>
        </p:spPr>
      </p:pic>
      <p:sp>
        <p:nvSpPr>
          <p:cNvPr id="37" name="Phase card Deployment"/>
          <p:cNvSpPr/>
          <p:nvPr/>
        </p:nvSpPr>
        <p:spPr>
          <a:xfrm>
            <a:off x="3611880" y="2907792"/>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38" name="Icon circle FiSend"/>
          <p:cNvSpPr/>
          <p:nvPr/>
        </p:nvSpPr>
        <p:spPr>
          <a:xfrm>
            <a:off x="3794760" y="3044952"/>
            <a:ext cx="411480" cy="411480"/>
          </a:xfrm>
          <a:prstGeom prst="ellipse">
            <a:avLst/>
          </a:prstGeom>
          <a:solidFill>
            <a:schemeClr val="accent1"/>
          </a:solidFill>
          <a:ln/>
        </p:spPr>
      </p:sp>
      <p:pic>
        <p:nvPicPr>
          <p:cNvPr id="39" name="Icon FiSend" descr="Send icon"/>
          <p:cNvPicPr>
            <a:picLocks noChangeAspect="1"/>
          </p:cNvPicPr>
          <p:nvPr/>
        </p:nvPicPr>
        <p:blipFill>
          <a:blip r:embed="rId9"/>
          <a:stretch>
            <a:fillRect/>
          </a:stretch>
        </p:blipFill>
        <p:spPr>
          <a:xfrm>
            <a:off x="3897630" y="3147822"/>
            <a:ext cx="205740" cy="205740"/>
          </a:xfrm>
          <a:prstGeom prst="rect">
            <a:avLst/>
          </a:prstGeom>
        </p:spPr>
      </p:pic>
      <p:sp>
        <p:nvSpPr>
          <p:cNvPr id="40" name="Phase number 6"/>
          <p:cNvSpPr txBox="1"/>
          <p:nvPr/>
        </p:nvSpPr>
        <p:spPr>
          <a:xfrm>
            <a:off x="4983480" y="3044952"/>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6</a:t>
            </a:r>
            <a:endParaRPr lang="en-US" sz="2000" dirty="0"/>
          </a:p>
        </p:txBody>
      </p:sp>
      <p:sp>
        <p:nvSpPr>
          <p:cNvPr id="41" name="Phase name 6"/>
          <p:cNvSpPr txBox="1"/>
          <p:nvPr/>
        </p:nvSpPr>
        <p:spPr>
          <a:xfrm>
            <a:off x="3794760" y="3529584"/>
            <a:ext cx="1691640" cy="274320"/>
          </a:xfrm>
          <a:prstGeom prst="rect">
            <a:avLst/>
          </a:prstGeom>
          <a:noFill/>
          <a:ln/>
        </p:spPr>
        <p:txBody>
          <a:bodyPr wrap="square" lIns="0" tIns="0" rIns="0" bIns="0" rtlCol="0" anchor="t"/>
          <a:lstStyle/>
          <a:p>
            <a:pPr marL="0" indent="0">
              <a:buNone/>
            </a:pPr>
            <a:r>
              <a:rPr lang="en-US" sz="1400" b="1" dirty="0">
                <a:solidFill>
                  <a:schemeClr val="tx1"/>
                </a:solidFill>
              </a:rPr>
              <a:t>Deployment</a:t>
            </a:r>
            <a:endParaRPr lang="en-US" sz="1400" dirty="0"/>
          </a:p>
        </p:txBody>
      </p:sp>
      <p:sp>
        <p:nvSpPr>
          <p:cNvPr id="42" name="Phase text 6"/>
          <p:cNvSpPr txBox="1"/>
          <p:nvPr/>
        </p:nvSpPr>
        <p:spPr>
          <a:xfrm>
            <a:off x="3794760" y="3822192"/>
            <a:ext cx="1645920" cy="658368"/>
          </a:xfrm>
          <a:prstGeom prst="rect">
            <a:avLst/>
          </a:prstGeom>
          <a:noFill/>
          <a:ln/>
        </p:spPr>
        <p:txBody>
          <a:bodyPr wrap="square" lIns="0" tIns="0" rIns="0" bIns="0" rtlCol="0" anchor="t"/>
          <a:lstStyle/>
          <a:p>
            <a:pPr marL="0" indent="0">
              <a:buNone/>
            </a:pPr>
            <a:r>
              <a:rPr lang="en-US" sz="1400" dirty="0">
                <a:solidFill>
                  <a:schemeClr val="tx2"/>
                </a:solidFill>
              </a:rPr>
              <a:t>Launch the application for users</a:t>
            </a:r>
            <a:endParaRPr lang="en-US" sz="1400" dirty="0"/>
          </a:p>
        </p:txBody>
      </p:sp>
      <p:pic>
        <p:nvPicPr>
          <p:cNvPr id="43" name="Icon FiChevronRight" descr="ChevronRight icon"/>
          <p:cNvPicPr>
            <a:picLocks noChangeAspect="1"/>
          </p:cNvPicPr>
          <p:nvPr/>
        </p:nvPicPr>
        <p:blipFill>
          <a:blip r:embed="rId4"/>
          <a:stretch>
            <a:fillRect/>
          </a:stretch>
        </p:blipFill>
        <p:spPr>
          <a:xfrm>
            <a:off x="5532120" y="3456432"/>
            <a:ext cx="182880" cy="182880"/>
          </a:xfrm>
          <a:prstGeom prst="rect">
            <a:avLst/>
          </a:prstGeom>
        </p:spPr>
      </p:pic>
      <p:sp>
        <p:nvSpPr>
          <p:cNvPr id="44" name="Phase card Maintenance"/>
          <p:cNvSpPr/>
          <p:nvPr/>
        </p:nvSpPr>
        <p:spPr>
          <a:xfrm>
            <a:off x="5715000" y="2907792"/>
            <a:ext cx="1920240" cy="1627632"/>
          </a:xfrm>
          <a:prstGeom prst="roundRect">
            <a:avLst>
              <a:gd name="adj" fmla="val 7865"/>
            </a:avLst>
          </a:prstGeom>
          <a:solidFill>
            <a:schemeClr val="bg1"/>
          </a:solidFill>
          <a:ln/>
          <a:effectLst>
            <a:outerShdw blurRad="127000" dist="25400" dir="5400000" algn="bl" rotWithShape="0">
              <a:srgbClr val="4C1D95">
                <a:alpha val="12000"/>
              </a:srgbClr>
            </a:outerShdw>
          </a:effectLst>
        </p:spPr>
      </p:sp>
      <p:sp>
        <p:nvSpPr>
          <p:cNvPr id="45" name="Icon circle FiTool"/>
          <p:cNvSpPr/>
          <p:nvPr/>
        </p:nvSpPr>
        <p:spPr>
          <a:xfrm>
            <a:off x="5897880" y="3044952"/>
            <a:ext cx="411480" cy="411480"/>
          </a:xfrm>
          <a:prstGeom prst="ellipse">
            <a:avLst/>
          </a:prstGeom>
          <a:solidFill>
            <a:schemeClr val="accent1"/>
          </a:solidFill>
          <a:ln/>
        </p:spPr>
      </p:sp>
      <p:pic>
        <p:nvPicPr>
          <p:cNvPr id="46" name="Icon FiTool" descr="Tool icon"/>
          <p:cNvPicPr>
            <a:picLocks noChangeAspect="1"/>
          </p:cNvPicPr>
          <p:nvPr/>
        </p:nvPicPr>
        <p:blipFill>
          <a:blip r:embed="rId10"/>
          <a:stretch>
            <a:fillRect/>
          </a:stretch>
        </p:blipFill>
        <p:spPr>
          <a:xfrm>
            <a:off x="6000750" y="3147822"/>
            <a:ext cx="205740" cy="205740"/>
          </a:xfrm>
          <a:prstGeom prst="rect">
            <a:avLst/>
          </a:prstGeom>
        </p:spPr>
      </p:pic>
      <p:sp>
        <p:nvSpPr>
          <p:cNvPr id="47" name="Phase number 7"/>
          <p:cNvSpPr txBox="1"/>
          <p:nvPr/>
        </p:nvSpPr>
        <p:spPr>
          <a:xfrm>
            <a:off x="7086600" y="3044952"/>
            <a:ext cx="365760" cy="411480"/>
          </a:xfrm>
          <a:prstGeom prst="rect">
            <a:avLst/>
          </a:prstGeom>
          <a:noFill/>
          <a:ln/>
        </p:spPr>
        <p:txBody>
          <a:bodyPr wrap="square" lIns="0" tIns="0" rIns="0" bIns="0" rtlCol="0" anchor="ctr"/>
          <a:lstStyle/>
          <a:p>
            <a:pPr marL="0" indent="0" algn="r">
              <a:buNone/>
            </a:pPr>
            <a:r>
              <a:rPr lang="en-US" sz="2000" b="1" dirty="0">
                <a:solidFill>
                  <a:schemeClr val="accent1"/>
                </a:solidFill>
              </a:rPr>
              <a:t>7</a:t>
            </a:r>
            <a:endParaRPr lang="en-US" sz="2000" dirty="0"/>
          </a:p>
        </p:txBody>
      </p:sp>
      <p:sp>
        <p:nvSpPr>
          <p:cNvPr id="48" name="Phase name 7"/>
          <p:cNvSpPr txBox="1"/>
          <p:nvPr/>
        </p:nvSpPr>
        <p:spPr>
          <a:xfrm>
            <a:off x="5897880" y="3529584"/>
            <a:ext cx="1691640" cy="274320"/>
          </a:xfrm>
          <a:prstGeom prst="rect">
            <a:avLst/>
          </a:prstGeom>
          <a:noFill/>
          <a:ln/>
        </p:spPr>
        <p:txBody>
          <a:bodyPr wrap="square" lIns="0" tIns="0" rIns="0" bIns="0" rtlCol="0" anchor="t"/>
          <a:lstStyle/>
          <a:p>
            <a:pPr marL="0" indent="0">
              <a:buNone/>
            </a:pPr>
            <a:r>
              <a:rPr lang="en-US" sz="1400" b="1" dirty="0">
                <a:solidFill>
                  <a:schemeClr val="tx1"/>
                </a:solidFill>
              </a:rPr>
              <a:t>Maintenance</a:t>
            </a:r>
            <a:endParaRPr lang="en-US" sz="1400" dirty="0"/>
          </a:p>
        </p:txBody>
      </p:sp>
      <p:sp>
        <p:nvSpPr>
          <p:cNvPr id="49" name="Phase text 7"/>
          <p:cNvSpPr txBox="1"/>
          <p:nvPr/>
        </p:nvSpPr>
        <p:spPr>
          <a:xfrm>
            <a:off x="5897880" y="3822192"/>
            <a:ext cx="1645920" cy="658368"/>
          </a:xfrm>
          <a:prstGeom prst="rect">
            <a:avLst/>
          </a:prstGeom>
          <a:noFill/>
          <a:ln/>
        </p:spPr>
        <p:txBody>
          <a:bodyPr wrap="square" lIns="0" tIns="0" rIns="0" bIns="0" rtlCol="0" anchor="t"/>
          <a:lstStyle/>
          <a:p>
            <a:pPr marL="0" indent="0">
              <a:buNone/>
            </a:pPr>
            <a:r>
              <a:rPr lang="en-US" sz="1400" dirty="0">
                <a:solidFill>
                  <a:schemeClr val="tx2"/>
                </a:solidFill>
              </a:rPr>
              <a:t>Update features and fix issues after launch</a:t>
            </a:r>
            <a:endParaRPr lang="en-US" sz="1400" dirty="0"/>
          </a:p>
        </p:txBody>
      </p:sp>
      <p:sp>
        <p:nvSpPr>
          <p:cNvPr id="5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TaskMate workflow diagram</a:t>
            </a: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pic>
        <p:nvPicPr>
          <p:cNvPr id="50" name="Workflow diagram" descr="TaskMate workflow diagram: login, dashboard, and the Manage Tasks, Kanban, Calendar, Analytics and Settings flows feeding the database"/>
          <p:cNvPicPr>
            <a:picLocks noChangeAspect="1"/>
          </p:cNvPicPr>
          <p:nvPr/>
        </p:nvPicPr>
        <p:blipFill>
          <a:blip r:embed="rId2"/>
          <a:stretch>
            <a:fillRect/>
          </a:stretch>
        </p:blipFill>
        <p:spPr>
          <a:xfrm>
            <a:off x="1760221" y="1005840"/>
            <a:ext cx="5623558" cy="3749039"/>
          </a:xfrm>
          <a:prstGeom prst="roundRect">
            <a:avLst>
              <a:gd name="adj" fmla="val 2000"/>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TaskMate wireframes</a:t>
            </a: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pic>
        <p:nvPicPr>
          <p:cNvPr id="50" name="Wireframes overview" descr="Nine TaskMate wireframes: home, login, dashboard, create task, task list, Kanban board, calendar, analytics, and settings with modals"/>
          <p:cNvPicPr>
            <a:picLocks noChangeAspect="1"/>
          </p:cNvPicPr>
          <p:nvPr/>
        </p:nvPicPr>
        <p:blipFill>
          <a:blip r:embed="rId2"/>
          <a:stretch>
            <a:fillRect/>
          </a:stretch>
        </p:blipFill>
        <p:spPr>
          <a:xfrm>
            <a:off x="2131201" y="1005840"/>
            <a:ext cx="4881597" cy="3749039"/>
          </a:xfrm>
          <a:prstGeom prst="roundRect">
            <a:avLst>
              <a:gd name="adj" fmla="val 2000"/>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Why we built TaskMate</a:t>
            </a:r>
            <a:endParaRPr lang="en-US" sz="3600" dirty="0"/>
          </a:p>
        </p:txBody>
      </p:sp>
      <p:sp>
        <p:nvSpPr>
          <p:cNvPr id="3" name="Problem card"/>
          <p:cNvSpPr/>
          <p:nvPr/>
        </p:nvSpPr>
        <p:spPr>
          <a:xfrm>
            <a:off x="548640" y="1280160"/>
            <a:ext cx="3657600" cy="3291840"/>
          </a:xfrm>
          <a:prstGeom prst="roundRect">
            <a:avLst>
              <a:gd name="adj" fmla="val 3889"/>
            </a:avLst>
          </a:prstGeom>
          <a:solidFill>
            <a:schemeClr val="bg1"/>
          </a:solidFill>
          <a:ln/>
          <a:effectLst>
            <a:outerShdw blurRad="127000" dist="25400" dir="5400000" algn="bl" rotWithShape="0">
              <a:srgbClr val="4C1D95">
                <a:alpha val="12000"/>
              </a:srgbClr>
            </a:outerShdw>
          </a:effectLst>
        </p:spPr>
      </p:sp>
      <p:sp>
        <p:nvSpPr>
          <p:cNvPr id="4" name="Problem heading"/>
          <p:cNvSpPr txBox="1"/>
          <p:nvPr/>
        </p:nvSpPr>
        <p:spPr>
          <a:xfrm>
            <a:off x="822960" y="1463040"/>
            <a:ext cx="3108960" cy="365760"/>
          </a:xfrm>
          <a:prstGeom prst="rect">
            <a:avLst/>
          </a:prstGeom>
          <a:noFill/>
          <a:ln/>
        </p:spPr>
        <p:txBody>
          <a:bodyPr wrap="square" lIns="0" tIns="0" rIns="0" bIns="0" rtlCol="0" anchor="t"/>
          <a:lstStyle/>
          <a:p>
            <a:pPr marL="0" indent="0">
              <a:buNone/>
            </a:pPr>
            <a:r>
              <a:rPr lang="en-US" sz="2000" b="1" dirty="0">
                <a:solidFill>
                  <a:schemeClr val="tx1"/>
                </a:solidFill>
              </a:rPr>
              <a:t>The problem</a:t>
            </a:r>
            <a:endParaRPr lang="en-US" sz="2000" dirty="0"/>
          </a:p>
        </p:txBody>
      </p:sp>
      <p:sp>
        <p:nvSpPr>
          <p:cNvPr id="5" name="Icon circle FiFileText"/>
          <p:cNvSpPr/>
          <p:nvPr/>
        </p:nvSpPr>
        <p:spPr>
          <a:xfrm>
            <a:off x="822960" y="2011680"/>
            <a:ext cx="502920" cy="502920"/>
          </a:xfrm>
          <a:prstGeom prst="ellipse">
            <a:avLst/>
          </a:prstGeom>
          <a:solidFill>
            <a:schemeClr val="accent2"/>
          </a:solidFill>
          <a:ln/>
        </p:spPr>
      </p:sp>
      <p:pic>
        <p:nvPicPr>
          <p:cNvPr id="6" name="Icon FiFileText" descr="FileText icon"/>
          <p:cNvPicPr>
            <a:picLocks noChangeAspect="1"/>
          </p:cNvPicPr>
          <p:nvPr/>
        </p:nvPicPr>
        <p:blipFill>
          <a:blip r:embed="rId3"/>
          <a:stretch>
            <a:fillRect/>
          </a:stretch>
        </p:blipFill>
        <p:spPr>
          <a:xfrm>
            <a:off x="948690" y="2137410"/>
            <a:ext cx="251460" cy="251460"/>
          </a:xfrm>
          <a:prstGeom prst="rect">
            <a:avLst/>
          </a:prstGeom>
        </p:spPr>
      </p:pic>
      <p:sp>
        <p:nvSpPr>
          <p:cNvPr id="7" name="Problem 1"/>
          <p:cNvSpPr txBox="1"/>
          <p:nvPr/>
        </p:nvSpPr>
        <p:spPr>
          <a:xfrm>
            <a:off x="1508760" y="1965960"/>
            <a:ext cx="2560320" cy="594360"/>
          </a:xfrm>
          <a:prstGeom prst="rect">
            <a:avLst/>
          </a:prstGeom>
          <a:noFill/>
          <a:ln/>
        </p:spPr>
        <p:txBody>
          <a:bodyPr wrap="square" lIns="0" tIns="0" rIns="0" bIns="0" rtlCol="0" anchor="ctr"/>
          <a:lstStyle/>
          <a:p>
            <a:pPr marL="0" indent="0">
              <a:buNone/>
            </a:pPr>
            <a:r>
              <a:rPr lang="en-US" sz="1500" dirty="0">
                <a:solidFill>
                  <a:schemeClr val="tx1"/>
                </a:solidFill>
              </a:rPr>
              <a:t>Tasks live in notebooks, chats and memory</a:t>
            </a:r>
            <a:endParaRPr lang="en-US" sz="1500" dirty="0"/>
          </a:p>
        </p:txBody>
      </p:sp>
      <p:sp>
        <p:nvSpPr>
          <p:cNvPr id="8" name="Icon circle FiAlertTriangle"/>
          <p:cNvSpPr/>
          <p:nvPr/>
        </p:nvSpPr>
        <p:spPr>
          <a:xfrm>
            <a:off x="822960" y="2834640"/>
            <a:ext cx="502920" cy="502920"/>
          </a:xfrm>
          <a:prstGeom prst="ellipse">
            <a:avLst/>
          </a:prstGeom>
          <a:solidFill>
            <a:schemeClr val="accent2"/>
          </a:solidFill>
          <a:ln/>
        </p:spPr>
      </p:sp>
      <p:pic>
        <p:nvPicPr>
          <p:cNvPr id="9" name="Icon FiAlertTriangle" descr="AlertTriangle icon"/>
          <p:cNvPicPr>
            <a:picLocks noChangeAspect="1"/>
          </p:cNvPicPr>
          <p:nvPr/>
        </p:nvPicPr>
        <p:blipFill>
          <a:blip r:embed="rId4"/>
          <a:stretch>
            <a:fillRect/>
          </a:stretch>
        </p:blipFill>
        <p:spPr>
          <a:xfrm>
            <a:off x="948690" y="2960370"/>
            <a:ext cx="251460" cy="251460"/>
          </a:xfrm>
          <a:prstGeom prst="rect">
            <a:avLst/>
          </a:prstGeom>
        </p:spPr>
      </p:pic>
      <p:sp>
        <p:nvSpPr>
          <p:cNvPr id="10" name="Problem 2"/>
          <p:cNvSpPr txBox="1"/>
          <p:nvPr/>
        </p:nvSpPr>
        <p:spPr>
          <a:xfrm>
            <a:off x="1508760" y="2788920"/>
            <a:ext cx="2560320" cy="594360"/>
          </a:xfrm>
          <a:prstGeom prst="rect">
            <a:avLst/>
          </a:prstGeom>
          <a:noFill/>
          <a:ln/>
        </p:spPr>
        <p:txBody>
          <a:bodyPr wrap="square" lIns="0" tIns="0" rIns="0" bIns="0" rtlCol="0" anchor="ctr"/>
          <a:lstStyle/>
          <a:p>
            <a:pPr marL="0" indent="0">
              <a:buNone/>
            </a:pPr>
            <a:r>
              <a:rPr lang="en-US" sz="1500" dirty="0">
                <a:solidFill>
                  <a:schemeClr val="tx1"/>
                </a:solidFill>
              </a:rPr>
              <a:t>Deadlines for exams and assignments get missed</a:t>
            </a:r>
            <a:endParaRPr lang="en-US" sz="1500" dirty="0"/>
          </a:p>
        </p:txBody>
      </p:sp>
      <p:sp>
        <p:nvSpPr>
          <p:cNvPr id="11" name="Icon circle FiHelpCircle"/>
          <p:cNvSpPr/>
          <p:nvPr/>
        </p:nvSpPr>
        <p:spPr>
          <a:xfrm>
            <a:off x="822960" y="3657600"/>
            <a:ext cx="502920" cy="502920"/>
          </a:xfrm>
          <a:prstGeom prst="ellipse">
            <a:avLst/>
          </a:prstGeom>
          <a:solidFill>
            <a:schemeClr val="accent2"/>
          </a:solidFill>
          <a:ln/>
        </p:spPr>
      </p:sp>
      <p:pic>
        <p:nvPicPr>
          <p:cNvPr id="12" name="Icon FiHelpCircle" descr="HelpCircle icon"/>
          <p:cNvPicPr>
            <a:picLocks noChangeAspect="1"/>
          </p:cNvPicPr>
          <p:nvPr/>
        </p:nvPicPr>
        <p:blipFill>
          <a:blip r:embed="rId5"/>
          <a:stretch>
            <a:fillRect/>
          </a:stretch>
        </p:blipFill>
        <p:spPr>
          <a:xfrm>
            <a:off x="948690" y="3783330"/>
            <a:ext cx="251460" cy="251460"/>
          </a:xfrm>
          <a:prstGeom prst="rect">
            <a:avLst/>
          </a:prstGeom>
        </p:spPr>
      </p:pic>
      <p:sp>
        <p:nvSpPr>
          <p:cNvPr id="13" name="Problem 3"/>
          <p:cNvSpPr txBox="1"/>
          <p:nvPr/>
        </p:nvSpPr>
        <p:spPr>
          <a:xfrm>
            <a:off x="1508760" y="3611880"/>
            <a:ext cx="2560320" cy="594360"/>
          </a:xfrm>
          <a:prstGeom prst="rect">
            <a:avLst/>
          </a:prstGeom>
          <a:noFill/>
          <a:ln/>
        </p:spPr>
        <p:txBody>
          <a:bodyPr wrap="square" lIns="0" tIns="0" rIns="0" bIns="0" rtlCol="0" anchor="ctr"/>
          <a:lstStyle/>
          <a:p>
            <a:pPr marL="0" indent="0">
              <a:buNone/>
            </a:pPr>
            <a:r>
              <a:rPr lang="en-US" sz="1500" dirty="0">
                <a:solidFill>
                  <a:schemeClr val="tx1"/>
                </a:solidFill>
              </a:rPr>
              <a:t>No clear picture of what is done and what is pending</a:t>
            </a:r>
            <a:endParaRPr lang="en-US" sz="1500" dirty="0"/>
          </a:p>
        </p:txBody>
      </p:sp>
      <p:sp>
        <p:nvSpPr>
          <p:cNvPr id="14" name="Solution card"/>
          <p:cNvSpPr/>
          <p:nvPr/>
        </p:nvSpPr>
        <p:spPr>
          <a:xfrm>
            <a:off x="4937760" y="1280160"/>
            <a:ext cx="3657600" cy="3291840"/>
          </a:xfrm>
          <a:prstGeom prst="roundRect">
            <a:avLst>
              <a:gd name="adj" fmla="val 3889"/>
            </a:avLst>
          </a:prstGeom>
          <a:solidFill>
            <a:schemeClr val="accent1"/>
          </a:solidFill>
          <a:ln/>
          <a:effectLst>
            <a:outerShdw blurRad="127000" dist="25400" dir="5400000" algn="bl" rotWithShape="0">
              <a:srgbClr val="4C1D95">
                <a:alpha val="12000"/>
              </a:srgbClr>
            </a:outerShdw>
          </a:effectLst>
        </p:spPr>
      </p:sp>
      <p:sp>
        <p:nvSpPr>
          <p:cNvPr id="15" name="Solution heading"/>
          <p:cNvSpPr txBox="1"/>
          <p:nvPr/>
        </p:nvSpPr>
        <p:spPr>
          <a:xfrm>
            <a:off x="5212080" y="1463040"/>
            <a:ext cx="3108960" cy="365760"/>
          </a:xfrm>
          <a:prstGeom prst="rect">
            <a:avLst/>
          </a:prstGeom>
          <a:noFill/>
          <a:ln/>
        </p:spPr>
        <p:txBody>
          <a:bodyPr wrap="square" lIns="0" tIns="0" rIns="0" bIns="0" rtlCol="0" anchor="t"/>
          <a:lstStyle/>
          <a:p>
            <a:pPr marL="0" indent="0">
              <a:buNone/>
            </a:pPr>
            <a:r>
              <a:rPr lang="en-US" sz="2000" b="1" dirty="0">
                <a:solidFill>
                  <a:schemeClr val="bg1"/>
                </a:solidFill>
              </a:rPr>
              <a:t>TaskMate</a:t>
            </a:r>
            <a:endParaRPr lang="en-US" sz="2000" dirty="0"/>
          </a:p>
        </p:txBody>
      </p:sp>
      <p:sp>
        <p:nvSpPr>
          <p:cNvPr id="16" name="Icon circle FiLayers"/>
          <p:cNvSpPr/>
          <p:nvPr/>
        </p:nvSpPr>
        <p:spPr>
          <a:xfrm>
            <a:off x="5212080" y="2011680"/>
            <a:ext cx="502920" cy="502920"/>
          </a:xfrm>
          <a:prstGeom prst="ellipse">
            <a:avLst/>
          </a:prstGeom>
          <a:solidFill>
            <a:schemeClr val="bg1"/>
          </a:solidFill>
          <a:ln/>
        </p:spPr>
      </p:sp>
      <p:pic>
        <p:nvPicPr>
          <p:cNvPr id="17" name="Icon FiLayers" descr="Layers icon"/>
          <p:cNvPicPr>
            <a:picLocks noChangeAspect="1"/>
          </p:cNvPicPr>
          <p:nvPr/>
        </p:nvPicPr>
        <p:blipFill>
          <a:blip r:embed="rId6"/>
          <a:stretch>
            <a:fillRect/>
          </a:stretch>
        </p:blipFill>
        <p:spPr>
          <a:xfrm>
            <a:off x="5337810" y="2137410"/>
            <a:ext cx="251460" cy="251460"/>
          </a:xfrm>
          <a:prstGeom prst="rect">
            <a:avLst/>
          </a:prstGeom>
        </p:spPr>
      </p:pic>
      <p:sp>
        <p:nvSpPr>
          <p:cNvPr id="18" name="Solution 1"/>
          <p:cNvSpPr txBox="1"/>
          <p:nvPr/>
        </p:nvSpPr>
        <p:spPr>
          <a:xfrm>
            <a:off x="5897880" y="1965960"/>
            <a:ext cx="2560320" cy="594360"/>
          </a:xfrm>
          <a:prstGeom prst="rect">
            <a:avLst/>
          </a:prstGeom>
          <a:noFill/>
          <a:ln/>
        </p:spPr>
        <p:txBody>
          <a:bodyPr wrap="square" lIns="0" tIns="0" rIns="0" bIns="0" rtlCol="0" anchor="ctr"/>
          <a:lstStyle/>
          <a:p>
            <a:pPr marL="0" indent="0">
              <a:buNone/>
            </a:pPr>
            <a:r>
              <a:rPr lang="en-US" sz="1500" dirty="0">
                <a:solidFill>
                  <a:schemeClr val="bg1"/>
                </a:solidFill>
              </a:rPr>
              <a:t>One workspace to organise tasks by category and priority</a:t>
            </a:r>
            <a:endParaRPr lang="en-US" sz="1500" dirty="0"/>
          </a:p>
        </p:txBody>
      </p:sp>
      <p:sp>
        <p:nvSpPr>
          <p:cNvPr id="19" name="Icon circle FiCalendar"/>
          <p:cNvSpPr/>
          <p:nvPr/>
        </p:nvSpPr>
        <p:spPr>
          <a:xfrm>
            <a:off x="5212080" y="2834640"/>
            <a:ext cx="502920" cy="502920"/>
          </a:xfrm>
          <a:prstGeom prst="ellipse">
            <a:avLst/>
          </a:prstGeom>
          <a:solidFill>
            <a:schemeClr val="bg1"/>
          </a:solidFill>
          <a:ln/>
        </p:spPr>
      </p:sp>
      <p:pic>
        <p:nvPicPr>
          <p:cNvPr id="20" name="Icon FiCalendar" descr="Calendar icon"/>
          <p:cNvPicPr>
            <a:picLocks noChangeAspect="1"/>
          </p:cNvPicPr>
          <p:nvPr/>
        </p:nvPicPr>
        <p:blipFill>
          <a:blip r:embed="rId7"/>
          <a:stretch>
            <a:fillRect/>
          </a:stretch>
        </p:blipFill>
        <p:spPr>
          <a:xfrm>
            <a:off x="5337810" y="2960370"/>
            <a:ext cx="251460" cy="251460"/>
          </a:xfrm>
          <a:prstGeom prst="rect">
            <a:avLst/>
          </a:prstGeom>
        </p:spPr>
      </p:pic>
      <p:sp>
        <p:nvSpPr>
          <p:cNvPr id="21" name="Solution 2"/>
          <p:cNvSpPr txBox="1"/>
          <p:nvPr/>
        </p:nvSpPr>
        <p:spPr>
          <a:xfrm>
            <a:off x="5897880" y="2788920"/>
            <a:ext cx="2560320" cy="594360"/>
          </a:xfrm>
          <a:prstGeom prst="rect">
            <a:avLst/>
          </a:prstGeom>
          <a:noFill/>
          <a:ln/>
        </p:spPr>
        <p:txBody>
          <a:bodyPr wrap="square" lIns="0" tIns="0" rIns="0" bIns="0" rtlCol="0" anchor="ctr"/>
          <a:lstStyle/>
          <a:p>
            <a:pPr marL="0" indent="0">
              <a:buNone/>
            </a:pPr>
            <a:r>
              <a:rPr lang="en-US" sz="1500" dirty="0">
                <a:solidFill>
                  <a:schemeClr val="bg1"/>
                </a:solidFill>
              </a:rPr>
              <a:t>Dashboard and calendar keep every deadline visible</a:t>
            </a:r>
            <a:endParaRPr lang="en-US" sz="1500" dirty="0"/>
          </a:p>
        </p:txBody>
      </p:sp>
      <p:sp>
        <p:nvSpPr>
          <p:cNvPr id="22" name="Icon circle FiTrendingUp"/>
          <p:cNvSpPr/>
          <p:nvPr/>
        </p:nvSpPr>
        <p:spPr>
          <a:xfrm>
            <a:off x="5212080" y="3657600"/>
            <a:ext cx="502920" cy="502920"/>
          </a:xfrm>
          <a:prstGeom prst="ellipse">
            <a:avLst/>
          </a:prstGeom>
          <a:solidFill>
            <a:schemeClr val="bg1"/>
          </a:solidFill>
          <a:ln/>
        </p:spPr>
      </p:sp>
      <p:pic>
        <p:nvPicPr>
          <p:cNvPr id="23" name="Icon FiTrendingUp" descr="TrendingUp icon"/>
          <p:cNvPicPr>
            <a:picLocks noChangeAspect="1"/>
          </p:cNvPicPr>
          <p:nvPr/>
        </p:nvPicPr>
        <p:blipFill>
          <a:blip r:embed="rId8"/>
          <a:stretch>
            <a:fillRect/>
          </a:stretch>
        </p:blipFill>
        <p:spPr>
          <a:xfrm>
            <a:off x="5337810" y="3783330"/>
            <a:ext cx="251460" cy="251460"/>
          </a:xfrm>
          <a:prstGeom prst="rect">
            <a:avLst/>
          </a:prstGeom>
        </p:spPr>
      </p:pic>
      <p:sp>
        <p:nvSpPr>
          <p:cNvPr id="24" name="Solution 3"/>
          <p:cNvSpPr txBox="1"/>
          <p:nvPr/>
        </p:nvSpPr>
        <p:spPr>
          <a:xfrm>
            <a:off x="5897880" y="3611880"/>
            <a:ext cx="2560320" cy="594360"/>
          </a:xfrm>
          <a:prstGeom prst="rect">
            <a:avLst/>
          </a:prstGeom>
          <a:noFill/>
          <a:ln/>
        </p:spPr>
        <p:txBody>
          <a:bodyPr wrap="square" lIns="0" tIns="0" rIns="0" bIns="0" rtlCol="0" anchor="ctr"/>
          <a:lstStyle/>
          <a:p>
            <a:pPr marL="0" indent="0">
              <a:buNone/>
            </a:pPr>
            <a:r>
              <a:rPr lang="en-US" sz="1500" dirty="0">
                <a:solidFill>
                  <a:schemeClr val="bg1"/>
                </a:solidFill>
              </a:rPr>
              <a:t>Charts and streaks show progress at a glance</a:t>
            </a:r>
            <a:endParaRPr lang="en-US" sz="1500" dirty="0"/>
          </a:p>
        </p:txBody>
      </p:sp>
      <p:sp>
        <p:nvSpPr>
          <p:cNvPr id="25" name="Arrow circle"/>
          <p:cNvSpPr/>
          <p:nvPr/>
        </p:nvSpPr>
        <p:spPr>
          <a:xfrm>
            <a:off x="4343400" y="2697480"/>
            <a:ext cx="457200" cy="457200"/>
          </a:xfrm>
          <a:prstGeom prst="ellipse">
            <a:avLst/>
          </a:prstGeom>
          <a:solidFill>
            <a:schemeClr val="bg1"/>
          </a:solidFill>
          <a:ln/>
          <a:effectLst>
            <a:outerShdw blurRad="127000" dist="25400" dir="5400000" algn="bl" rotWithShape="0">
              <a:srgbClr val="4C1D95">
                <a:alpha val="12000"/>
              </a:srgbClr>
            </a:outerShdw>
          </a:effectLst>
        </p:spPr>
      </p:sp>
      <p:pic>
        <p:nvPicPr>
          <p:cNvPr id="26" name="Icon FiArrowRight" descr="ArrowRight icon"/>
          <p:cNvPicPr>
            <a:picLocks noChangeAspect="1"/>
          </p:cNvPicPr>
          <p:nvPr/>
        </p:nvPicPr>
        <p:blipFill>
          <a:blip r:embed="rId9"/>
          <a:stretch>
            <a:fillRect/>
          </a:stretch>
        </p:blipFill>
        <p:spPr>
          <a:xfrm>
            <a:off x="4453128" y="2807208"/>
            <a:ext cx="237744" cy="237744"/>
          </a:xfrm>
          <a:prstGeom prst="rect">
            <a:avLst/>
          </a:prstGeom>
        </p:spPr>
      </p:pic>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Features and tech stack</a:t>
            </a:r>
            <a:endParaRPr lang="en-US" sz="3600" dirty="0"/>
          </a:p>
        </p:txBody>
      </p:sp>
      <p:sp>
        <p:nvSpPr>
          <p:cNvPr id="3" name="Feature card 1"/>
          <p:cNvSpPr/>
          <p:nvPr/>
        </p:nvSpPr>
        <p:spPr>
          <a:xfrm>
            <a:off x="548640" y="1234440"/>
            <a:ext cx="2560320" cy="1325880"/>
          </a:xfrm>
          <a:prstGeom prst="roundRect">
            <a:avLst>
              <a:gd name="adj" fmla="val 9655"/>
            </a:avLst>
          </a:prstGeom>
          <a:solidFill>
            <a:schemeClr val="bg1"/>
          </a:solidFill>
          <a:ln/>
          <a:effectLst>
            <a:outerShdw blurRad="127000" dist="25400" dir="5400000" algn="bl" rotWithShape="0">
              <a:srgbClr val="4C1D95">
                <a:alpha val="12000"/>
              </a:srgbClr>
            </a:outerShdw>
          </a:effectLst>
        </p:spPr>
      </p:sp>
      <p:sp>
        <p:nvSpPr>
          <p:cNvPr id="4" name="Icon circle FiGrid"/>
          <p:cNvSpPr/>
          <p:nvPr/>
        </p:nvSpPr>
        <p:spPr>
          <a:xfrm>
            <a:off x="777240" y="1417320"/>
            <a:ext cx="457200" cy="457200"/>
          </a:xfrm>
          <a:prstGeom prst="ellipse">
            <a:avLst/>
          </a:prstGeom>
          <a:solidFill>
            <a:schemeClr val="accent1"/>
          </a:solidFill>
          <a:ln/>
        </p:spPr>
      </p:sp>
      <p:pic>
        <p:nvPicPr>
          <p:cNvPr id="5" name="Icon FiGrid" descr="Grid icon"/>
          <p:cNvPicPr>
            <a:picLocks noChangeAspect="1"/>
          </p:cNvPicPr>
          <p:nvPr/>
        </p:nvPicPr>
        <p:blipFill>
          <a:blip r:embed="rId3"/>
          <a:stretch>
            <a:fillRect/>
          </a:stretch>
        </p:blipFill>
        <p:spPr>
          <a:xfrm>
            <a:off x="891540" y="1531620"/>
            <a:ext cx="228600" cy="228600"/>
          </a:xfrm>
          <a:prstGeom prst="rect">
            <a:avLst/>
          </a:prstGeom>
        </p:spPr>
      </p:pic>
      <p:sp>
        <p:nvSpPr>
          <p:cNvPr id="6" name="Feature name 1"/>
          <p:cNvSpPr txBox="1"/>
          <p:nvPr/>
        </p:nvSpPr>
        <p:spPr>
          <a:xfrm>
            <a:off x="1417320" y="146304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Smart Dashboard</a:t>
            </a:r>
            <a:endParaRPr lang="en-US" sz="1600" dirty="0"/>
          </a:p>
        </p:txBody>
      </p:sp>
      <p:sp>
        <p:nvSpPr>
          <p:cNvPr id="7" name="Feature text 1"/>
          <p:cNvSpPr txBox="1"/>
          <p:nvPr/>
        </p:nvSpPr>
        <p:spPr>
          <a:xfrm>
            <a:off x="777240" y="1984248"/>
            <a:ext cx="2148840" cy="502920"/>
          </a:xfrm>
          <a:prstGeom prst="rect">
            <a:avLst/>
          </a:prstGeom>
          <a:noFill/>
          <a:ln/>
        </p:spPr>
        <p:txBody>
          <a:bodyPr wrap="square" lIns="0" tIns="0" rIns="0" bIns="0" rtlCol="0" anchor="t"/>
          <a:lstStyle/>
          <a:p>
            <a:pPr marL="0" indent="0">
              <a:buNone/>
            </a:pPr>
            <a:r>
              <a:rPr lang="en-US" sz="1400" dirty="0">
                <a:solidFill>
                  <a:schemeClr val="tx2"/>
                </a:solidFill>
              </a:rPr>
              <a:t>Live counts and progress that update automatically</a:t>
            </a:r>
            <a:endParaRPr lang="en-US" sz="1400" dirty="0"/>
          </a:p>
        </p:txBody>
      </p:sp>
      <p:sp>
        <p:nvSpPr>
          <p:cNvPr id="8" name="Feature card 2"/>
          <p:cNvSpPr/>
          <p:nvPr/>
        </p:nvSpPr>
        <p:spPr>
          <a:xfrm>
            <a:off x="3383280" y="1234440"/>
            <a:ext cx="2560320" cy="1325880"/>
          </a:xfrm>
          <a:prstGeom prst="roundRect">
            <a:avLst>
              <a:gd name="adj" fmla="val 9655"/>
            </a:avLst>
          </a:prstGeom>
          <a:solidFill>
            <a:schemeClr val="bg1"/>
          </a:solidFill>
          <a:ln/>
          <a:effectLst>
            <a:outerShdw blurRad="127000" dist="25400" dir="5400000" algn="bl" rotWithShape="0">
              <a:srgbClr val="4C1D95">
                <a:alpha val="12000"/>
              </a:srgbClr>
            </a:outerShdw>
          </a:effectLst>
        </p:spPr>
      </p:sp>
      <p:sp>
        <p:nvSpPr>
          <p:cNvPr id="9" name="Icon circle FiColumns"/>
          <p:cNvSpPr/>
          <p:nvPr/>
        </p:nvSpPr>
        <p:spPr>
          <a:xfrm>
            <a:off x="3611880" y="1417320"/>
            <a:ext cx="457200" cy="457200"/>
          </a:xfrm>
          <a:prstGeom prst="ellipse">
            <a:avLst/>
          </a:prstGeom>
          <a:solidFill>
            <a:schemeClr val="accent1"/>
          </a:solidFill>
          <a:ln/>
        </p:spPr>
      </p:sp>
      <p:pic>
        <p:nvPicPr>
          <p:cNvPr id="10" name="Icon FiColumns" descr="Columns icon"/>
          <p:cNvPicPr>
            <a:picLocks noChangeAspect="1"/>
          </p:cNvPicPr>
          <p:nvPr/>
        </p:nvPicPr>
        <p:blipFill>
          <a:blip r:embed="rId4"/>
          <a:stretch>
            <a:fillRect/>
          </a:stretch>
        </p:blipFill>
        <p:spPr>
          <a:xfrm>
            <a:off x="3726180" y="1531620"/>
            <a:ext cx="228600" cy="228600"/>
          </a:xfrm>
          <a:prstGeom prst="rect">
            <a:avLst/>
          </a:prstGeom>
        </p:spPr>
      </p:pic>
      <p:sp>
        <p:nvSpPr>
          <p:cNvPr id="11" name="Feature name 2"/>
          <p:cNvSpPr txBox="1"/>
          <p:nvPr/>
        </p:nvSpPr>
        <p:spPr>
          <a:xfrm>
            <a:off x="4251960" y="146304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Kanban Board</a:t>
            </a:r>
            <a:endParaRPr lang="en-US" sz="1600" dirty="0"/>
          </a:p>
        </p:txBody>
      </p:sp>
      <p:sp>
        <p:nvSpPr>
          <p:cNvPr id="12" name="Feature text 2"/>
          <p:cNvSpPr txBox="1"/>
          <p:nvPr/>
        </p:nvSpPr>
        <p:spPr>
          <a:xfrm>
            <a:off x="3611880" y="1984248"/>
            <a:ext cx="2148840" cy="502920"/>
          </a:xfrm>
          <a:prstGeom prst="rect">
            <a:avLst/>
          </a:prstGeom>
          <a:noFill/>
          <a:ln/>
        </p:spPr>
        <p:txBody>
          <a:bodyPr wrap="square" lIns="0" tIns="0" rIns="0" bIns="0" rtlCol="0" anchor="t"/>
          <a:lstStyle/>
          <a:p>
            <a:pPr marL="0" indent="0">
              <a:buNone/>
            </a:pPr>
            <a:r>
              <a:rPr lang="en-US" sz="1400" dirty="0">
                <a:solidFill>
                  <a:schemeClr val="tx2"/>
                </a:solidFill>
              </a:rPr>
              <a:t>To Do, In Progress and Completed, drag to move</a:t>
            </a:r>
            <a:endParaRPr lang="en-US" sz="1400" dirty="0"/>
          </a:p>
        </p:txBody>
      </p:sp>
      <p:sp>
        <p:nvSpPr>
          <p:cNvPr id="13" name="Feature card 3"/>
          <p:cNvSpPr/>
          <p:nvPr/>
        </p:nvSpPr>
        <p:spPr>
          <a:xfrm>
            <a:off x="6217920" y="1234440"/>
            <a:ext cx="2560320" cy="1325880"/>
          </a:xfrm>
          <a:prstGeom prst="roundRect">
            <a:avLst>
              <a:gd name="adj" fmla="val 9655"/>
            </a:avLst>
          </a:prstGeom>
          <a:solidFill>
            <a:schemeClr val="bg1"/>
          </a:solidFill>
          <a:ln/>
          <a:effectLst>
            <a:outerShdw blurRad="127000" dist="25400" dir="5400000" algn="bl" rotWithShape="0">
              <a:srgbClr val="4C1D95">
                <a:alpha val="12000"/>
              </a:srgbClr>
            </a:outerShdw>
          </a:effectLst>
        </p:spPr>
      </p:sp>
      <p:sp>
        <p:nvSpPr>
          <p:cNvPr id="14" name="Icon circle FiCalendar"/>
          <p:cNvSpPr/>
          <p:nvPr/>
        </p:nvSpPr>
        <p:spPr>
          <a:xfrm>
            <a:off x="6446520" y="1417320"/>
            <a:ext cx="457200" cy="457200"/>
          </a:xfrm>
          <a:prstGeom prst="ellipse">
            <a:avLst/>
          </a:prstGeom>
          <a:solidFill>
            <a:schemeClr val="accent1"/>
          </a:solidFill>
          <a:ln/>
        </p:spPr>
      </p:sp>
      <p:pic>
        <p:nvPicPr>
          <p:cNvPr id="15" name="Icon FiCalendar" descr="Calendar icon"/>
          <p:cNvPicPr>
            <a:picLocks noChangeAspect="1"/>
          </p:cNvPicPr>
          <p:nvPr/>
        </p:nvPicPr>
        <p:blipFill>
          <a:blip r:embed="rId5"/>
          <a:stretch>
            <a:fillRect/>
          </a:stretch>
        </p:blipFill>
        <p:spPr>
          <a:xfrm>
            <a:off x="6560820" y="1531620"/>
            <a:ext cx="228600" cy="228600"/>
          </a:xfrm>
          <a:prstGeom prst="rect">
            <a:avLst/>
          </a:prstGeom>
        </p:spPr>
      </p:pic>
      <p:sp>
        <p:nvSpPr>
          <p:cNvPr id="16" name="Feature name 3"/>
          <p:cNvSpPr txBox="1"/>
          <p:nvPr/>
        </p:nvSpPr>
        <p:spPr>
          <a:xfrm>
            <a:off x="7086600" y="146304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Task Calendar</a:t>
            </a:r>
            <a:endParaRPr lang="en-US" sz="1600" dirty="0"/>
          </a:p>
        </p:txBody>
      </p:sp>
      <p:sp>
        <p:nvSpPr>
          <p:cNvPr id="17" name="Feature text 3"/>
          <p:cNvSpPr txBox="1"/>
          <p:nvPr/>
        </p:nvSpPr>
        <p:spPr>
          <a:xfrm>
            <a:off x="6446520" y="1984248"/>
            <a:ext cx="2148840" cy="502920"/>
          </a:xfrm>
          <a:prstGeom prst="rect">
            <a:avLst/>
          </a:prstGeom>
          <a:noFill/>
          <a:ln/>
        </p:spPr>
        <p:txBody>
          <a:bodyPr wrap="square" lIns="0" tIns="0" rIns="0" bIns="0" rtlCol="0" anchor="t"/>
          <a:lstStyle/>
          <a:p>
            <a:pPr marL="0" indent="0">
              <a:buNone/>
            </a:pPr>
            <a:r>
              <a:rPr lang="en-US" sz="1400" dirty="0">
                <a:solidFill>
                  <a:schemeClr val="tx2"/>
                </a:solidFill>
              </a:rPr>
              <a:t>See due dates, today and overdue tasks</a:t>
            </a:r>
            <a:endParaRPr lang="en-US" sz="1400" dirty="0"/>
          </a:p>
        </p:txBody>
      </p:sp>
      <p:sp>
        <p:nvSpPr>
          <p:cNvPr id="18" name="Feature card 4"/>
          <p:cNvSpPr/>
          <p:nvPr/>
        </p:nvSpPr>
        <p:spPr>
          <a:xfrm>
            <a:off x="548640" y="2697480"/>
            <a:ext cx="2560320" cy="1325880"/>
          </a:xfrm>
          <a:prstGeom prst="roundRect">
            <a:avLst>
              <a:gd name="adj" fmla="val 9655"/>
            </a:avLst>
          </a:prstGeom>
          <a:solidFill>
            <a:schemeClr val="bg1"/>
          </a:solidFill>
          <a:ln/>
          <a:effectLst>
            <a:outerShdw blurRad="127000" dist="25400" dir="5400000" algn="bl" rotWithShape="0">
              <a:srgbClr val="4C1D95">
                <a:alpha val="12000"/>
              </a:srgbClr>
            </a:outerShdw>
          </a:effectLst>
        </p:spPr>
      </p:sp>
      <p:sp>
        <p:nvSpPr>
          <p:cNvPr id="19" name="Icon circle FiBarChart2"/>
          <p:cNvSpPr/>
          <p:nvPr/>
        </p:nvSpPr>
        <p:spPr>
          <a:xfrm>
            <a:off x="777240" y="2880360"/>
            <a:ext cx="457200" cy="457200"/>
          </a:xfrm>
          <a:prstGeom prst="ellipse">
            <a:avLst/>
          </a:prstGeom>
          <a:solidFill>
            <a:schemeClr val="accent1"/>
          </a:solidFill>
          <a:ln/>
        </p:spPr>
      </p:sp>
      <p:pic>
        <p:nvPicPr>
          <p:cNvPr id="20" name="Icon FiBarChart2" descr="BarChart2 icon"/>
          <p:cNvPicPr>
            <a:picLocks noChangeAspect="1"/>
          </p:cNvPicPr>
          <p:nvPr/>
        </p:nvPicPr>
        <p:blipFill>
          <a:blip r:embed="rId6"/>
          <a:stretch>
            <a:fillRect/>
          </a:stretch>
        </p:blipFill>
        <p:spPr>
          <a:xfrm>
            <a:off x="891540" y="2994660"/>
            <a:ext cx="228600" cy="228600"/>
          </a:xfrm>
          <a:prstGeom prst="rect">
            <a:avLst/>
          </a:prstGeom>
        </p:spPr>
      </p:pic>
      <p:sp>
        <p:nvSpPr>
          <p:cNvPr id="21" name="Feature name 4"/>
          <p:cNvSpPr txBox="1"/>
          <p:nvPr/>
        </p:nvSpPr>
        <p:spPr>
          <a:xfrm>
            <a:off x="1417320" y="292608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Analytics</a:t>
            </a:r>
            <a:endParaRPr lang="en-US" sz="1600" dirty="0"/>
          </a:p>
        </p:txBody>
      </p:sp>
      <p:sp>
        <p:nvSpPr>
          <p:cNvPr id="22" name="Feature text 4"/>
          <p:cNvSpPr txBox="1"/>
          <p:nvPr/>
        </p:nvSpPr>
        <p:spPr>
          <a:xfrm>
            <a:off x="777240" y="3447288"/>
            <a:ext cx="2148840" cy="502920"/>
          </a:xfrm>
          <a:prstGeom prst="rect">
            <a:avLst/>
          </a:prstGeom>
          <a:noFill/>
          <a:ln/>
        </p:spPr>
        <p:txBody>
          <a:bodyPr wrap="square" lIns="0" tIns="0" rIns="0" bIns="0" rtlCol="0" anchor="t"/>
          <a:lstStyle/>
          <a:p>
            <a:pPr marL="0" indent="0">
              <a:buNone/>
            </a:pPr>
            <a:r>
              <a:rPr lang="en-US" sz="1400" dirty="0">
                <a:solidFill>
                  <a:schemeClr val="tx2"/>
                </a:solidFill>
              </a:rPr>
              <a:t>Category charts and completion percentage</a:t>
            </a:r>
            <a:endParaRPr lang="en-US" sz="1400" dirty="0"/>
          </a:p>
        </p:txBody>
      </p:sp>
      <p:sp>
        <p:nvSpPr>
          <p:cNvPr id="23" name="Feature card 5"/>
          <p:cNvSpPr/>
          <p:nvPr/>
        </p:nvSpPr>
        <p:spPr>
          <a:xfrm>
            <a:off x="3383280" y="2697480"/>
            <a:ext cx="2560320" cy="1325880"/>
          </a:xfrm>
          <a:prstGeom prst="roundRect">
            <a:avLst>
              <a:gd name="adj" fmla="val 9655"/>
            </a:avLst>
          </a:prstGeom>
          <a:solidFill>
            <a:schemeClr val="bg1"/>
          </a:solidFill>
          <a:ln/>
          <a:effectLst>
            <a:outerShdw blurRad="127000" dist="25400" dir="5400000" algn="bl" rotWithShape="0">
              <a:srgbClr val="4C1D95">
                <a:alpha val="12000"/>
              </a:srgbClr>
            </a:outerShdw>
          </a:effectLst>
        </p:spPr>
      </p:sp>
      <p:sp>
        <p:nvSpPr>
          <p:cNvPr id="24" name="Icon circle FiSearch"/>
          <p:cNvSpPr/>
          <p:nvPr/>
        </p:nvSpPr>
        <p:spPr>
          <a:xfrm>
            <a:off x="3611880" y="2880360"/>
            <a:ext cx="457200" cy="457200"/>
          </a:xfrm>
          <a:prstGeom prst="ellipse">
            <a:avLst/>
          </a:prstGeom>
          <a:solidFill>
            <a:schemeClr val="accent1"/>
          </a:solidFill>
          <a:ln/>
        </p:spPr>
      </p:sp>
      <p:pic>
        <p:nvPicPr>
          <p:cNvPr id="25" name="Icon FiSearch" descr="Search icon"/>
          <p:cNvPicPr>
            <a:picLocks noChangeAspect="1"/>
          </p:cNvPicPr>
          <p:nvPr/>
        </p:nvPicPr>
        <p:blipFill>
          <a:blip r:embed="rId7"/>
          <a:stretch>
            <a:fillRect/>
          </a:stretch>
        </p:blipFill>
        <p:spPr>
          <a:xfrm>
            <a:off x="3726180" y="2994660"/>
            <a:ext cx="228600" cy="228600"/>
          </a:xfrm>
          <a:prstGeom prst="rect">
            <a:avLst/>
          </a:prstGeom>
        </p:spPr>
      </p:pic>
      <p:sp>
        <p:nvSpPr>
          <p:cNvPr id="26" name="Feature name 5"/>
          <p:cNvSpPr txBox="1"/>
          <p:nvPr/>
        </p:nvSpPr>
        <p:spPr>
          <a:xfrm>
            <a:off x="4251960" y="292608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Search &amp; Filter</a:t>
            </a:r>
            <a:endParaRPr lang="en-US" sz="1600" dirty="0"/>
          </a:p>
        </p:txBody>
      </p:sp>
      <p:sp>
        <p:nvSpPr>
          <p:cNvPr id="27" name="Feature text 5"/>
          <p:cNvSpPr txBox="1"/>
          <p:nvPr/>
        </p:nvSpPr>
        <p:spPr>
          <a:xfrm>
            <a:off x="3611880" y="3447288"/>
            <a:ext cx="2148840" cy="502920"/>
          </a:xfrm>
          <a:prstGeom prst="rect">
            <a:avLst/>
          </a:prstGeom>
          <a:noFill/>
          <a:ln/>
        </p:spPr>
        <p:txBody>
          <a:bodyPr wrap="square" lIns="0" tIns="0" rIns="0" bIns="0" rtlCol="0" anchor="t"/>
          <a:lstStyle/>
          <a:p>
            <a:pPr marL="0" indent="0">
              <a:buNone/>
            </a:pPr>
            <a:r>
              <a:rPr lang="en-US" sz="1400" dirty="0">
                <a:solidFill>
                  <a:schemeClr val="tx2"/>
                </a:solidFill>
              </a:rPr>
              <a:t>Find tasks by name, category, status or deadline</a:t>
            </a:r>
            <a:endParaRPr lang="en-US" sz="1400" dirty="0"/>
          </a:p>
        </p:txBody>
      </p:sp>
      <p:sp>
        <p:nvSpPr>
          <p:cNvPr id="28" name="Feature card 6"/>
          <p:cNvSpPr/>
          <p:nvPr/>
        </p:nvSpPr>
        <p:spPr>
          <a:xfrm>
            <a:off x="6217920" y="2697480"/>
            <a:ext cx="2560320" cy="1325880"/>
          </a:xfrm>
          <a:prstGeom prst="roundRect">
            <a:avLst>
              <a:gd name="adj" fmla="val 9655"/>
            </a:avLst>
          </a:prstGeom>
          <a:solidFill>
            <a:schemeClr val="bg1"/>
          </a:solidFill>
          <a:ln/>
          <a:effectLst>
            <a:outerShdw blurRad="127000" dist="25400" dir="5400000" algn="bl" rotWithShape="0">
              <a:srgbClr val="4C1D95">
                <a:alpha val="12000"/>
              </a:srgbClr>
            </a:outerShdw>
          </a:effectLst>
        </p:spPr>
      </p:sp>
      <p:sp>
        <p:nvSpPr>
          <p:cNvPr id="29" name="Icon circle FiMoon"/>
          <p:cNvSpPr/>
          <p:nvPr/>
        </p:nvSpPr>
        <p:spPr>
          <a:xfrm>
            <a:off x="6446520" y="2880360"/>
            <a:ext cx="457200" cy="457200"/>
          </a:xfrm>
          <a:prstGeom prst="ellipse">
            <a:avLst/>
          </a:prstGeom>
          <a:solidFill>
            <a:schemeClr val="accent1"/>
          </a:solidFill>
          <a:ln/>
        </p:spPr>
      </p:sp>
      <p:pic>
        <p:nvPicPr>
          <p:cNvPr id="30" name="Icon FiMoon" descr="Moon icon"/>
          <p:cNvPicPr>
            <a:picLocks noChangeAspect="1"/>
          </p:cNvPicPr>
          <p:nvPr/>
        </p:nvPicPr>
        <p:blipFill>
          <a:blip r:embed="rId8"/>
          <a:stretch>
            <a:fillRect/>
          </a:stretch>
        </p:blipFill>
        <p:spPr>
          <a:xfrm>
            <a:off x="6560820" y="2994660"/>
            <a:ext cx="228600" cy="228600"/>
          </a:xfrm>
          <a:prstGeom prst="rect">
            <a:avLst/>
          </a:prstGeom>
        </p:spPr>
      </p:pic>
      <p:sp>
        <p:nvSpPr>
          <p:cNvPr id="31" name="Feature name 6"/>
          <p:cNvSpPr txBox="1"/>
          <p:nvPr/>
        </p:nvSpPr>
        <p:spPr>
          <a:xfrm>
            <a:off x="7086600" y="292608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Dark Mode</a:t>
            </a:r>
            <a:endParaRPr lang="en-US" sz="1600" dirty="0"/>
          </a:p>
        </p:txBody>
      </p:sp>
      <p:sp>
        <p:nvSpPr>
          <p:cNvPr id="32" name="Feature text 6"/>
          <p:cNvSpPr txBox="1"/>
          <p:nvPr/>
        </p:nvSpPr>
        <p:spPr>
          <a:xfrm>
            <a:off x="6446520" y="3447288"/>
            <a:ext cx="2148840" cy="502920"/>
          </a:xfrm>
          <a:prstGeom prst="rect">
            <a:avLst/>
          </a:prstGeom>
          <a:noFill/>
          <a:ln/>
        </p:spPr>
        <p:txBody>
          <a:bodyPr wrap="square" lIns="0" tIns="0" rIns="0" bIns="0" rtlCol="0" anchor="t"/>
          <a:lstStyle/>
          <a:p>
            <a:pPr marL="0" indent="0">
              <a:buNone/>
            </a:pPr>
            <a:r>
              <a:rPr lang="en-US" sz="1400" dirty="0">
                <a:solidFill>
                  <a:schemeClr val="tx2"/>
                </a:solidFill>
              </a:rPr>
              <a:t>Switch theme and accent colour to suit your style</a:t>
            </a:r>
            <a:endParaRPr lang="en-US" sz="1400" dirty="0"/>
          </a:p>
        </p:txBody>
      </p:sp>
      <p:sp>
        <p:nvSpPr>
          <p:cNvPr id="33" name="Built with label"/>
          <p:cNvSpPr txBox="1"/>
          <p:nvPr/>
        </p:nvSpPr>
        <p:spPr>
          <a:xfrm>
            <a:off x="548640" y="4224528"/>
            <a:ext cx="1005840" cy="347472"/>
          </a:xfrm>
          <a:prstGeom prst="rect">
            <a:avLst/>
          </a:prstGeom>
          <a:noFill/>
          <a:ln/>
        </p:spPr>
        <p:txBody>
          <a:bodyPr wrap="square" lIns="0" tIns="0" rIns="0" bIns="0" rtlCol="0" anchor="ctr"/>
          <a:lstStyle/>
          <a:p>
            <a:pPr marL="0" indent="0">
              <a:buNone/>
            </a:pPr>
            <a:r>
              <a:rPr lang="en-US" sz="1400" b="1" dirty="0">
                <a:solidFill>
                  <a:schemeClr val="tx1"/>
                </a:solidFill>
              </a:rPr>
              <a:t>Built with</a:t>
            </a:r>
            <a:endParaRPr lang="en-US" sz="1400" dirty="0"/>
          </a:p>
        </p:txBody>
      </p:sp>
      <p:sp>
        <p:nvSpPr>
          <p:cNvPr id="34" name="Tech chip HTML"/>
          <p:cNvSpPr/>
          <p:nvPr/>
        </p:nvSpPr>
        <p:spPr>
          <a:xfrm>
            <a:off x="1600200" y="4224528"/>
            <a:ext cx="868680" cy="347472"/>
          </a:xfrm>
          <a:prstGeom prst="roundRect">
            <a:avLst>
              <a:gd name="adj" fmla="val 50000"/>
            </a:avLst>
          </a:prstGeom>
          <a:solidFill>
            <a:schemeClr val="accent1"/>
          </a:solidFill>
          <a:ln/>
        </p:spPr>
      </p:sp>
      <p:sp>
        <p:nvSpPr>
          <p:cNvPr id="35" name="Tech chip text HTML"/>
          <p:cNvSpPr txBox="1"/>
          <p:nvPr/>
        </p:nvSpPr>
        <p:spPr>
          <a:xfrm>
            <a:off x="1600200" y="4224528"/>
            <a:ext cx="868680" cy="347472"/>
          </a:xfrm>
          <a:prstGeom prst="rect">
            <a:avLst/>
          </a:prstGeom>
          <a:noFill/>
          <a:ln/>
        </p:spPr>
        <p:txBody>
          <a:bodyPr wrap="square" lIns="0" tIns="0" rIns="0" bIns="0" rtlCol="0" anchor="ctr"/>
          <a:lstStyle/>
          <a:p>
            <a:pPr marL="0" indent="0" algn="ctr">
              <a:buNone/>
            </a:pPr>
            <a:r>
              <a:rPr lang="en-US" sz="1400" b="1" dirty="0">
                <a:solidFill>
                  <a:schemeClr val="bg1"/>
                </a:solidFill>
              </a:rPr>
              <a:t>HTML</a:t>
            </a:r>
            <a:endParaRPr lang="en-US" sz="1400" dirty="0"/>
          </a:p>
        </p:txBody>
      </p:sp>
      <p:sp>
        <p:nvSpPr>
          <p:cNvPr id="36" name="Tech chip CSS"/>
          <p:cNvSpPr/>
          <p:nvPr/>
        </p:nvSpPr>
        <p:spPr>
          <a:xfrm>
            <a:off x="2560320" y="4224528"/>
            <a:ext cx="777240" cy="347472"/>
          </a:xfrm>
          <a:prstGeom prst="roundRect">
            <a:avLst>
              <a:gd name="adj" fmla="val 50000"/>
            </a:avLst>
          </a:prstGeom>
          <a:solidFill>
            <a:schemeClr val="accent1"/>
          </a:solidFill>
          <a:ln/>
        </p:spPr>
      </p:sp>
      <p:sp>
        <p:nvSpPr>
          <p:cNvPr id="37" name="Tech chip text CSS"/>
          <p:cNvSpPr txBox="1"/>
          <p:nvPr/>
        </p:nvSpPr>
        <p:spPr>
          <a:xfrm>
            <a:off x="2560320" y="4224528"/>
            <a:ext cx="777240" cy="347472"/>
          </a:xfrm>
          <a:prstGeom prst="rect">
            <a:avLst/>
          </a:prstGeom>
          <a:noFill/>
          <a:ln/>
        </p:spPr>
        <p:txBody>
          <a:bodyPr wrap="square" lIns="0" tIns="0" rIns="0" bIns="0" rtlCol="0" anchor="ctr"/>
          <a:lstStyle/>
          <a:p>
            <a:pPr marL="0" indent="0" algn="ctr">
              <a:buNone/>
            </a:pPr>
            <a:r>
              <a:rPr lang="en-US" sz="1400" b="1" dirty="0">
                <a:solidFill>
                  <a:schemeClr val="bg1"/>
                </a:solidFill>
              </a:rPr>
              <a:t>CSS</a:t>
            </a:r>
            <a:endParaRPr lang="en-US" sz="1400" dirty="0"/>
          </a:p>
        </p:txBody>
      </p:sp>
      <p:sp>
        <p:nvSpPr>
          <p:cNvPr id="38" name="Tech chip JavaScript"/>
          <p:cNvSpPr/>
          <p:nvPr/>
        </p:nvSpPr>
        <p:spPr>
          <a:xfrm>
            <a:off x="3429000" y="4224528"/>
            <a:ext cx="1280160" cy="347472"/>
          </a:xfrm>
          <a:prstGeom prst="roundRect">
            <a:avLst>
              <a:gd name="adj" fmla="val 50000"/>
            </a:avLst>
          </a:prstGeom>
          <a:solidFill>
            <a:schemeClr val="accent1"/>
          </a:solidFill>
          <a:ln/>
        </p:spPr>
      </p:sp>
      <p:sp>
        <p:nvSpPr>
          <p:cNvPr id="39" name="Tech chip text JavaScript"/>
          <p:cNvSpPr txBox="1"/>
          <p:nvPr/>
        </p:nvSpPr>
        <p:spPr>
          <a:xfrm>
            <a:off x="3429000" y="4224528"/>
            <a:ext cx="1280160" cy="347472"/>
          </a:xfrm>
          <a:prstGeom prst="rect">
            <a:avLst/>
          </a:prstGeom>
          <a:noFill/>
          <a:ln/>
        </p:spPr>
        <p:txBody>
          <a:bodyPr wrap="square" lIns="0" tIns="0" rIns="0" bIns="0" rtlCol="0" anchor="ctr"/>
          <a:lstStyle/>
          <a:p>
            <a:pPr marL="0" indent="0" algn="ctr">
              <a:buNone/>
            </a:pPr>
            <a:r>
              <a:rPr lang="en-US" sz="1400" b="1" dirty="0">
                <a:solidFill>
                  <a:schemeClr val="bg1"/>
                </a:solidFill>
              </a:rPr>
              <a:t>JavaScript</a:t>
            </a:r>
            <a:endParaRPr lang="en-US" sz="1400" dirty="0"/>
          </a:p>
        </p:txBody>
      </p:sp>
      <p:sp>
        <p:nvSpPr>
          <p:cNvPr id="40" name="No backend note"/>
          <p:cNvSpPr txBox="1"/>
          <p:nvPr/>
        </p:nvSpPr>
        <p:spPr>
          <a:xfrm>
            <a:off x="4983480" y="4224528"/>
            <a:ext cx="3611880" cy="347472"/>
          </a:xfrm>
          <a:prstGeom prst="rect">
            <a:avLst/>
          </a:prstGeom>
          <a:noFill/>
          <a:ln/>
        </p:spPr>
        <p:txBody>
          <a:bodyPr wrap="square" lIns="0" tIns="0" rIns="0" bIns="0" rtlCol="0" anchor="ctr"/>
          <a:lstStyle/>
          <a:p>
            <a:pPr marL="0" indent="0">
              <a:buNone/>
            </a:pPr>
            <a:r>
              <a:rPr lang="en-US" sz="1400" dirty="0">
                <a:solidFill>
                  <a:schemeClr val="tx2"/>
                </a:solidFill>
              </a:rPr>
              <a:t>No backend: tasks are saved in the browser</a:t>
            </a:r>
            <a:endParaRPr lang="en-US" sz="1400" dirty="0"/>
          </a:p>
        </p:txBody>
      </p:sp>
      <p:sp>
        <p:nvSpPr>
          <p:cNvPr id="4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Dashboard at a glance</a:t>
            </a:r>
            <a:endParaRPr lang="en-US" sz="3600" dirty="0"/>
          </a:p>
        </p:txBody>
      </p:sp>
      <p:sp>
        <p:nvSpPr>
          <p:cNvPr id="3" name="Dashboard stat 1"/>
          <p:cNvSpPr/>
          <p:nvPr/>
        </p:nvSpPr>
        <p:spPr>
          <a:xfrm>
            <a:off x="548640" y="1280160"/>
            <a:ext cx="1783080" cy="1280160"/>
          </a:xfrm>
          <a:prstGeom prst="roundRect">
            <a:avLst>
              <a:gd name="adj" fmla="val 10000"/>
            </a:avLst>
          </a:prstGeom>
          <a:solidFill>
            <a:schemeClr val="bg1"/>
          </a:solidFill>
          <a:ln/>
          <a:effectLst>
            <a:outerShdw blurRad="127000" dist="25400" dir="5400000" algn="bl" rotWithShape="0">
              <a:srgbClr val="4C1D95">
                <a:alpha val="12000"/>
              </a:srgbClr>
            </a:outerShdw>
          </a:effectLst>
        </p:spPr>
      </p:sp>
      <p:sp>
        <p:nvSpPr>
          <p:cNvPr id="4" name="Dashboard number 1"/>
          <p:cNvSpPr txBox="1"/>
          <p:nvPr/>
        </p:nvSpPr>
        <p:spPr>
          <a:xfrm>
            <a:off x="777240" y="1463040"/>
            <a:ext cx="1371600" cy="594360"/>
          </a:xfrm>
          <a:prstGeom prst="rect">
            <a:avLst/>
          </a:prstGeom>
          <a:noFill/>
          <a:ln/>
        </p:spPr>
        <p:txBody>
          <a:bodyPr wrap="square" lIns="0" tIns="0" rIns="0" bIns="0" rtlCol="0" anchor="t"/>
          <a:lstStyle/>
          <a:p>
            <a:pPr marL="0" indent="0">
              <a:buNone/>
            </a:pPr>
            <a:r>
              <a:rPr lang="en-US" sz="4000" b="1" dirty="0">
                <a:solidFill>
                  <a:schemeClr val="accent1"/>
                </a:solidFill>
              </a:rPr>
              <a:t>9</a:t>
            </a:r>
            <a:endParaRPr lang="en-US" sz="4000" dirty="0"/>
          </a:p>
        </p:txBody>
      </p:sp>
      <p:sp>
        <p:nvSpPr>
          <p:cNvPr id="5" name="Dashboard label 1"/>
          <p:cNvSpPr txBox="1"/>
          <p:nvPr/>
        </p:nvSpPr>
        <p:spPr>
          <a:xfrm>
            <a:off x="777240" y="2103120"/>
            <a:ext cx="1371600" cy="274320"/>
          </a:xfrm>
          <a:prstGeom prst="rect">
            <a:avLst/>
          </a:prstGeom>
          <a:noFill/>
          <a:ln/>
        </p:spPr>
        <p:txBody>
          <a:bodyPr wrap="square" lIns="0" tIns="0" rIns="0" bIns="0" rtlCol="0" anchor="t"/>
          <a:lstStyle/>
          <a:p>
            <a:pPr marL="0" indent="0">
              <a:buNone/>
            </a:pPr>
            <a:r>
              <a:rPr lang="en-US" sz="1400" dirty="0">
                <a:solidFill>
                  <a:schemeClr val="tx2"/>
                </a:solidFill>
              </a:rPr>
              <a:t>Total tasks</a:t>
            </a:r>
            <a:endParaRPr lang="en-US" sz="1400" dirty="0"/>
          </a:p>
        </p:txBody>
      </p:sp>
      <p:sp>
        <p:nvSpPr>
          <p:cNvPr id="6" name="Dashboard stat 2"/>
          <p:cNvSpPr/>
          <p:nvPr/>
        </p:nvSpPr>
        <p:spPr>
          <a:xfrm>
            <a:off x="2514600" y="1280160"/>
            <a:ext cx="1783080" cy="1280160"/>
          </a:xfrm>
          <a:prstGeom prst="roundRect">
            <a:avLst>
              <a:gd name="adj" fmla="val 10000"/>
            </a:avLst>
          </a:prstGeom>
          <a:solidFill>
            <a:schemeClr val="bg1"/>
          </a:solidFill>
          <a:ln/>
          <a:effectLst>
            <a:outerShdw blurRad="127000" dist="25400" dir="5400000" algn="bl" rotWithShape="0">
              <a:srgbClr val="4C1D95">
                <a:alpha val="12000"/>
              </a:srgbClr>
            </a:outerShdw>
          </a:effectLst>
        </p:spPr>
      </p:sp>
      <p:sp>
        <p:nvSpPr>
          <p:cNvPr id="7" name="Dashboard number 2"/>
          <p:cNvSpPr txBox="1"/>
          <p:nvPr/>
        </p:nvSpPr>
        <p:spPr>
          <a:xfrm>
            <a:off x="2743200" y="1463040"/>
            <a:ext cx="1371600" cy="594360"/>
          </a:xfrm>
          <a:prstGeom prst="rect">
            <a:avLst/>
          </a:prstGeom>
          <a:noFill/>
          <a:ln/>
        </p:spPr>
        <p:txBody>
          <a:bodyPr wrap="square" lIns="0" tIns="0" rIns="0" bIns="0" rtlCol="0" anchor="t"/>
          <a:lstStyle/>
          <a:p>
            <a:pPr marL="0" indent="0">
              <a:buNone/>
            </a:pPr>
            <a:r>
              <a:rPr lang="en-US" sz="4000" b="1" dirty="0">
                <a:solidFill>
                  <a:schemeClr val="accent1"/>
                </a:solidFill>
              </a:rPr>
              <a:t>5</a:t>
            </a:r>
            <a:endParaRPr lang="en-US" sz="4000" dirty="0"/>
          </a:p>
        </p:txBody>
      </p:sp>
      <p:sp>
        <p:nvSpPr>
          <p:cNvPr id="8" name="Dashboard label 2"/>
          <p:cNvSpPr txBox="1"/>
          <p:nvPr/>
        </p:nvSpPr>
        <p:spPr>
          <a:xfrm>
            <a:off x="2743200" y="2103120"/>
            <a:ext cx="1371600" cy="274320"/>
          </a:xfrm>
          <a:prstGeom prst="rect">
            <a:avLst/>
          </a:prstGeom>
          <a:noFill/>
          <a:ln/>
        </p:spPr>
        <p:txBody>
          <a:bodyPr wrap="square" lIns="0" tIns="0" rIns="0" bIns="0" rtlCol="0" anchor="t"/>
          <a:lstStyle/>
          <a:p>
            <a:pPr marL="0" indent="0">
              <a:buNone/>
            </a:pPr>
            <a:r>
              <a:rPr lang="en-US" sz="1400" dirty="0">
                <a:solidFill>
                  <a:schemeClr val="tx2"/>
                </a:solidFill>
              </a:rPr>
              <a:t>Pending</a:t>
            </a:r>
            <a:endParaRPr lang="en-US" sz="1400" dirty="0"/>
          </a:p>
        </p:txBody>
      </p:sp>
      <p:sp>
        <p:nvSpPr>
          <p:cNvPr id="9" name="Dashboard stat 3"/>
          <p:cNvSpPr/>
          <p:nvPr/>
        </p:nvSpPr>
        <p:spPr>
          <a:xfrm>
            <a:off x="548640" y="2743200"/>
            <a:ext cx="1783080" cy="1280160"/>
          </a:xfrm>
          <a:prstGeom prst="roundRect">
            <a:avLst>
              <a:gd name="adj" fmla="val 10000"/>
            </a:avLst>
          </a:prstGeom>
          <a:solidFill>
            <a:schemeClr val="bg1"/>
          </a:solidFill>
          <a:ln/>
          <a:effectLst>
            <a:outerShdw blurRad="127000" dist="25400" dir="5400000" algn="bl" rotWithShape="0">
              <a:srgbClr val="4C1D95">
                <a:alpha val="12000"/>
              </a:srgbClr>
            </a:outerShdw>
          </a:effectLst>
        </p:spPr>
      </p:sp>
      <p:sp>
        <p:nvSpPr>
          <p:cNvPr id="10" name="Dashboard number 3"/>
          <p:cNvSpPr txBox="1"/>
          <p:nvPr/>
        </p:nvSpPr>
        <p:spPr>
          <a:xfrm>
            <a:off x="777240" y="2926080"/>
            <a:ext cx="1371600" cy="594360"/>
          </a:xfrm>
          <a:prstGeom prst="rect">
            <a:avLst/>
          </a:prstGeom>
          <a:noFill/>
          <a:ln/>
        </p:spPr>
        <p:txBody>
          <a:bodyPr wrap="square" lIns="0" tIns="0" rIns="0" bIns="0" rtlCol="0" anchor="t"/>
          <a:lstStyle/>
          <a:p>
            <a:pPr marL="0" indent="0">
              <a:buNone/>
            </a:pPr>
            <a:r>
              <a:rPr lang="en-US" sz="4000" b="1" dirty="0">
                <a:solidFill>
                  <a:schemeClr val="accent1"/>
                </a:solidFill>
              </a:rPr>
              <a:t>1</a:t>
            </a:r>
            <a:endParaRPr lang="en-US" sz="4000" dirty="0"/>
          </a:p>
        </p:txBody>
      </p:sp>
      <p:sp>
        <p:nvSpPr>
          <p:cNvPr id="11" name="Dashboard label 3"/>
          <p:cNvSpPr txBox="1"/>
          <p:nvPr/>
        </p:nvSpPr>
        <p:spPr>
          <a:xfrm>
            <a:off x="777240" y="3566160"/>
            <a:ext cx="1371600" cy="274320"/>
          </a:xfrm>
          <a:prstGeom prst="rect">
            <a:avLst/>
          </a:prstGeom>
          <a:noFill/>
          <a:ln/>
        </p:spPr>
        <p:txBody>
          <a:bodyPr wrap="square" lIns="0" tIns="0" rIns="0" bIns="0" rtlCol="0" anchor="t"/>
          <a:lstStyle/>
          <a:p>
            <a:pPr marL="0" indent="0">
              <a:buNone/>
            </a:pPr>
            <a:r>
              <a:rPr lang="en-US" sz="1400" dirty="0">
                <a:solidFill>
                  <a:schemeClr val="tx2"/>
                </a:solidFill>
              </a:rPr>
              <a:t>In progress</a:t>
            </a:r>
            <a:endParaRPr lang="en-US" sz="1400" dirty="0"/>
          </a:p>
        </p:txBody>
      </p:sp>
      <p:sp>
        <p:nvSpPr>
          <p:cNvPr id="12" name="Dashboard stat 4"/>
          <p:cNvSpPr/>
          <p:nvPr/>
        </p:nvSpPr>
        <p:spPr>
          <a:xfrm>
            <a:off x="2514600" y="2743200"/>
            <a:ext cx="1783080" cy="1280160"/>
          </a:xfrm>
          <a:prstGeom prst="roundRect">
            <a:avLst>
              <a:gd name="adj" fmla="val 10000"/>
            </a:avLst>
          </a:prstGeom>
          <a:solidFill>
            <a:schemeClr val="bg1"/>
          </a:solidFill>
          <a:ln/>
          <a:effectLst>
            <a:outerShdw blurRad="127000" dist="25400" dir="5400000" algn="bl" rotWithShape="0">
              <a:srgbClr val="4C1D95">
                <a:alpha val="12000"/>
              </a:srgbClr>
            </a:outerShdw>
          </a:effectLst>
        </p:spPr>
      </p:sp>
      <p:sp>
        <p:nvSpPr>
          <p:cNvPr id="13" name="Dashboard number 4"/>
          <p:cNvSpPr txBox="1"/>
          <p:nvPr/>
        </p:nvSpPr>
        <p:spPr>
          <a:xfrm>
            <a:off x="2743200" y="2926080"/>
            <a:ext cx="1371600" cy="594360"/>
          </a:xfrm>
          <a:prstGeom prst="rect">
            <a:avLst/>
          </a:prstGeom>
          <a:noFill/>
          <a:ln/>
        </p:spPr>
        <p:txBody>
          <a:bodyPr wrap="square" lIns="0" tIns="0" rIns="0" bIns="0" rtlCol="0" anchor="t"/>
          <a:lstStyle/>
          <a:p>
            <a:pPr marL="0" indent="0">
              <a:buNone/>
            </a:pPr>
            <a:r>
              <a:rPr lang="en-US" sz="4000" b="1" dirty="0">
                <a:solidFill>
                  <a:schemeClr val="accent1"/>
                </a:solidFill>
              </a:rPr>
              <a:t>3</a:t>
            </a:r>
            <a:endParaRPr lang="en-US" sz="4000" dirty="0"/>
          </a:p>
        </p:txBody>
      </p:sp>
      <p:sp>
        <p:nvSpPr>
          <p:cNvPr id="14" name="Dashboard label 4"/>
          <p:cNvSpPr txBox="1"/>
          <p:nvPr/>
        </p:nvSpPr>
        <p:spPr>
          <a:xfrm>
            <a:off x="2743200" y="3566160"/>
            <a:ext cx="1371600" cy="274320"/>
          </a:xfrm>
          <a:prstGeom prst="rect">
            <a:avLst/>
          </a:prstGeom>
          <a:noFill/>
          <a:ln/>
        </p:spPr>
        <p:txBody>
          <a:bodyPr wrap="square" lIns="0" tIns="0" rIns="0" bIns="0" rtlCol="0" anchor="t"/>
          <a:lstStyle/>
          <a:p>
            <a:pPr marL="0" indent="0">
              <a:buNone/>
            </a:pPr>
            <a:r>
              <a:rPr lang="en-US" sz="1400" dirty="0">
                <a:solidFill>
                  <a:schemeClr val="tx2"/>
                </a:solidFill>
              </a:rPr>
              <a:t>Completed</a:t>
            </a:r>
            <a:endParaRPr lang="en-US" sz="1400" dirty="0"/>
          </a:p>
        </p:txBody>
      </p:sp>
      <p:sp>
        <p:nvSpPr>
          <p:cNvPr id="15" name="Sample caption"/>
          <p:cNvSpPr txBox="1"/>
          <p:nvPr/>
        </p:nvSpPr>
        <p:spPr>
          <a:xfrm>
            <a:off x="548640" y="4251960"/>
            <a:ext cx="3749040" cy="228600"/>
          </a:xfrm>
          <a:prstGeom prst="rect">
            <a:avLst/>
          </a:prstGeom>
          <a:noFill/>
          <a:ln/>
        </p:spPr>
        <p:txBody>
          <a:bodyPr wrap="square" lIns="0" tIns="0" rIns="0" bIns="0" rtlCol="0" anchor="t"/>
          <a:lstStyle/>
          <a:p>
            <a:pPr marL="0" indent="0">
              <a:buNone/>
            </a:pPr>
            <a:r>
              <a:rPr lang="en-US" sz="1100" dirty="0">
                <a:solidFill>
                  <a:schemeClr val="tx2"/>
                </a:solidFill>
              </a:rPr>
              <a:t>Sample data from the demo tasks</a:t>
            </a:r>
            <a:endParaRPr lang="en-US" sz="1100" dirty="0"/>
          </a:p>
        </p:txBody>
      </p:sp>
      <p:sp>
        <p:nvSpPr>
          <p:cNvPr id="16" name="Progress card"/>
          <p:cNvSpPr/>
          <p:nvPr/>
        </p:nvSpPr>
        <p:spPr>
          <a:xfrm>
            <a:off x="4663440" y="1280160"/>
            <a:ext cx="3931920" cy="914400"/>
          </a:xfrm>
          <a:prstGeom prst="roundRect">
            <a:avLst>
              <a:gd name="adj" fmla="val 14000"/>
            </a:avLst>
          </a:prstGeom>
          <a:solidFill>
            <a:schemeClr val="bg1"/>
          </a:solidFill>
          <a:ln/>
          <a:effectLst>
            <a:outerShdw blurRad="127000" dist="25400" dir="5400000" algn="bl" rotWithShape="0">
              <a:srgbClr val="4C1D95">
                <a:alpha val="12000"/>
              </a:srgbClr>
            </a:outerShdw>
          </a:effectLst>
        </p:spPr>
      </p:sp>
      <p:sp>
        <p:nvSpPr>
          <p:cNvPr id="17" name="Progress heading"/>
          <p:cNvSpPr txBox="1"/>
          <p:nvPr/>
        </p:nvSpPr>
        <p:spPr>
          <a:xfrm>
            <a:off x="4937760" y="1417320"/>
            <a:ext cx="2286000" cy="274320"/>
          </a:xfrm>
          <a:prstGeom prst="rect">
            <a:avLst/>
          </a:prstGeom>
          <a:noFill/>
          <a:ln/>
        </p:spPr>
        <p:txBody>
          <a:bodyPr wrap="square" lIns="0" tIns="0" rIns="0" bIns="0" rtlCol="0" anchor="t"/>
          <a:lstStyle/>
          <a:p>
            <a:pPr marL="0" indent="0">
              <a:buNone/>
            </a:pPr>
            <a:r>
              <a:rPr lang="en-US" sz="1400" b="1" dirty="0">
                <a:solidFill>
                  <a:schemeClr val="tx1"/>
                </a:solidFill>
              </a:rPr>
              <a:t>Overall progress</a:t>
            </a:r>
            <a:endParaRPr lang="en-US" sz="1400" dirty="0"/>
          </a:p>
        </p:txBody>
      </p:sp>
      <p:sp>
        <p:nvSpPr>
          <p:cNvPr id="18" name="Progress percent"/>
          <p:cNvSpPr txBox="1"/>
          <p:nvPr/>
        </p:nvSpPr>
        <p:spPr>
          <a:xfrm>
            <a:off x="7315200" y="1417320"/>
            <a:ext cx="1005840" cy="274320"/>
          </a:xfrm>
          <a:prstGeom prst="rect">
            <a:avLst/>
          </a:prstGeom>
          <a:noFill/>
          <a:ln/>
        </p:spPr>
        <p:txBody>
          <a:bodyPr wrap="square" lIns="0" tIns="0" rIns="0" bIns="0" rtlCol="0" anchor="t"/>
          <a:lstStyle/>
          <a:p>
            <a:pPr marL="0" indent="0" algn="r">
              <a:buNone/>
            </a:pPr>
            <a:r>
              <a:rPr lang="en-US" sz="1400" b="1" dirty="0">
                <a:solidFill>
                  <a:schemeClr val="accent1"/>
                </a:solidFill>
              </a:rPr>
              <a:t>33%</a:t>
            </a:r>
            <a:endParaRPr lang="en-US" sz="1400" dirty="0"/>
          </a:p>
        </p:txBody>
      </p:sp>
      <p:sp>
        <p:nvSpPr>
          <p:cNvPr id="19" name="Progress bar track"/>
          <p:cNvSpPr/>
          <p:nvPr/>
        </p:nvSpPr>
        <p:spPr>
          <a:xfrm>
            <a:off x="4937760" y="1828800"/>
            <a:ext cx="3383280" cy="164592"/>
          </a:xfrm>
          <a:prstGeom prst="roundRect">
            <a:avLst>
              <a:gd name="adj" fmla="val 50000"/>
            </a:avLst>
          </a:prstGeom>
          <a:solidFill>
            <a:schemeClr val="bg2"/>
          </a:solidFill>
          <a:ln/>
        </p:spPr>
      </p:sp>
      <p:sp>
        <p:nvSpPr>
          <p:cNvPr id="20" name="Progress bar fill"/>
          <p:cNvSpPr/>
          <p:nvPr/>
        </p:nvSpPr>
        <p:spPr>
          <a:xfrm>
            <a:off x="4937760" y="1828800"/>
            <a:ext cx="1115568" cy="164592"/>
          </a:xfrm>
          <a:prstGeom prst="roundRect">
            <a:avLst>
              <a:gd name="adj" fmla="val 50000"/>
            </a:avLst>
          </a:prstGeom>
          <a:solidFill>
            <a:schemeClr val="accent1"/>
          </a:solidFill>
          <a:ln/>
        </p:spPr>
      </p:sp>
      <p:sp>
        <p:nvSpPr>
          <p:cNvPr id="21" name="Icon circle FiAlertCircle"/>
          <p:cNvSpPr/>
          <p:nvPr/>
        </p:nvSpPr>
        <p:spPr>
          <a:xfrm>
            <a:off x="4663440" y="2423160"/>
            <a:ext cx="457200" cy="457200"/>
          </a:xfrm>
          <a:prstGeom prst="ellipse">
            <a:avLst/>
          </a:prstGeom>
          <a:solidFill>
            <a:schemeClr val="accent1"/>
          </a:solidFill>
          <a:ln/>
        </p:spPr>
      </p:sp>
      <p:pic>
        <p:nvPicPr>
          <p:cNvPr id="22" name="Icon FiAlertCircle" descr="AlertCircle icon"/>
          <p:cNvPicPr>
            <a:picLocks noChangeAspect="1"/>
          </p:cNvPicPr>
          <p:nvPr/>
        </p:nvPicPr>
        <p:blipFill>
          <a:blip r:embed="rId3"/>
          <a:stretch>
            <a:fillRect/>
          </a:stretch>
        </p:blipFill>
        <p:spPr>
          <a:xfrm>
            <a:off x="4777740" y="2537460"/>
            <a:ext cx="228600" cy="228600"/>
          </a:xfrm>
          <a:prstGeom prst="rect">
            <a:avLst/>
          </a:prstGeom>
        </p:spPr>
      </p:pic>
      <p:sp>
        <p:nvSpPr>
          <p:cNvPr id="23" name="Dashboard feature 1"/>
          <p:cNvSpPr txBox="1"/>
          <p:nvPr/>
        </p:nvSpPr>
        <p:spPr>
          <a:xfrm>
            <a:off x="5303520" y="237744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Smart banner: </a:t>
            </a:r>
            <a:r>
              <a:rPr lang="en-US" sz="1400" dirty="0">
                <a:solidFill>
                  <a:schemeClr val="tx1"/>
                </a:solidFill>
              </a:rPr>
              <a:t>warns about tasks due today or overdue</a:t>
            </a:r>
            <a:endParaRPr lang="en-US" sz="1400" dirty="0"/>
          </a:p>
        </p:txBody>
      </p:sp>
      <p:sp>
        <p:nvSpPr>
          <p:cNvPr id="24" name="Icon circle FiZap"/>
          <p:cNvSpPr/>
          <p:nvPr/>
        </p:nvSpPr>
        <p:spPr>
          <a:xfrm>
            <a:off x="4663440" y="3154680"/>
            <a:ext cx="457200" cy="457200"/>
          </a:xfrm>
          <a:prstGeom prst="ellipse">
            <a:avLst/>
          </a:prstGeom>
          <a:solidFill>
            <a:schemeClr val="accent1"/>
          </a:solidFill>
          <a:ln/>
        </p:spPr>
      </p:sp>
      <p:pic>
        <p:nvPicPr>
          <p:cNvPr id="25" name="Icon FiZap" descr="Zap icon"/>
          <p:cNvPicPr>
            <a:picLocks noChangeAspect="1"/>
          </p:cNvPicPr>
          <p:nvPr/>
        </p:nvPicPr>
        <p:blipFill>
          <a:blip r:embed="rId4"/>
          <a:stretch>
            <a:fillRect/>
          </a:stretch>
        </p:blipFill>
        <p:spPr>
          <a:xfrm>
            <a:off x="4777740" y="3268980"/>
            <a:ext cx="228600" cy="228600"/>
          </a:xfrm>
          <a:prstGeom prst="rect">
            <a:avLst/>
          </a:prstGeom>
        </p:spPr>
      </p:pic>
      <p:sp>
        <p:nvSpPr>
          <p:cNvPr id="26" name="Dashboard feature 2"/>
          <p:cNvSpPr txBox="1"/>
          <p:nvPr/>
        </p:nvSpPr>
        <p:spPr>
          <a:xfrm>
            <a:off x="5303520" y="310896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Streak counter: </a:t>
            </a:r>
            <a:r>
              <a:rPr lang="en-US" sz="1400" dirty="0">
                <a:solidFill>
                  <a:schemeClr val="tx1"/>
                </a:solidFill>
              </a:rPr>
              <a:t>counts consecutive days with a completed task</a:t>
            </a:r>
            <a:endParaRPr lang="en-US" sz="1400" dirty="0"/>
          </a:p>
        </p:txBody>
      </p:sp>
      <p:sp>
        <p:nvSpPr>
          <p:cNvPr id="27" name="Icon circle FiFlag"/>
          <p:cNvSpPr/>
          <p:nvPr/>
        </p:nvSpPr>
        <p:spPr>
          <a:xfrm>
            <a:off x="4663440" y="3886200"/>
            <a:ext cx="457200" cy="457200"/>
          </a:xfrm>
          <a:prstGeom prst="ellipse">
            <a:avLst/>
          </a:prstGeom>
          <a:solidFill>
            <a:schemeClr val="accent1"/>
          </a:solidFill>
          <a:ln/>
        </p:spPr>
      </p:sp>
      <p:pic>
        <p:nvPicPr>
          <p:cNvPr id="28" name="Icon FiFlag" descr="Flag icon"/>
          <p:cNvPicPr>
            <a:picLocks noChangeAspect="1"/>
          </p:cNvPicPr>
          <p:nvPr/>
        </p:nvPicPr>
        <p:blipFill>
          <a:blip r:embed="rId5"/>
          <a:stretch>
            <a:fillRect/>
          </a:stretch>
        </p:blipFill>
        <p:spPr>
          <a:xfrm>
            <a:off x="4777740" y="4000500"/>
            <a:ext cx="228600" cy="228600"/>
          </a:xfrm>
          <a:prstGeom prst="rect">
            <a:avLst/>
          </a:prstGeom>
        </p:spPr>
      </p:pic>
      <p:sp>
        <p:nvSpPr>
          <p:cNvPr id="29" name="Dashboard feature 3"/>
          <p:cNvSpPr txBox="1"/>
          <p:nvPr/>
        </p:nvSpPr>
        <p:spPr>
          <a:xfrm>
            <a:off x="5303520" y="384048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Upcoming deadlines: </a:t>
            </a:r>
            <a:r>
              <a:rPr lang="en-US" sz="1400" dirty="0">
                <a:solidFill>
                  <a:schemeClr val="tx1"/>
                </a:solidFill>
              </a:rPr>
              <a:t>next five open tasks, overdue shown in red</a:t>
            </a:r>
            <a:endParaRPr lang="en-US" sz="1400" dirty="0"/>
          </a:p>
        </p:txBody>
      </p:sp>
      <p:sp>
        <p:nvSpPr>
          <p:cNvPr id="3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Create and manage tasks</a:t>
            </a:r>
            <a:endParaRPr lang="en-US" sz="3600" dirty="0"/>
          </a:p>
        </p:txBody>
      </p:sp>
      <p:sp>
        <p:nvSpPr>
          <p:cNvPr id="3" name="Form card"/>
          <p:cNvSpPr/>
          <p:nvPr/>
        </p:nvSpPr>
        <p:spPr>
          <a:xfrm>
            <a:off x="548640" y="1280160"/>
            <a:ext cx="3749040" cy="3291840"/>
          </a:xfrm>
          <a:prstGeom prst="roundRect">
            <a:avLst>
              <a:gd name="adj" fmla="val 3889"/>
            </a:avLst>
          </a:prstGeom>
          <a:solidFill>
            <a:schemeClr val="bg1"/>
          </a:solidFill>
          <a:ln/>
          <a:effectLst>
            <a:outerShdw blurRad="127000" dist="25400" dir="5400000" algn="bl" rotWithShape="0">
              <a:srgbClr val="4C1D95">
                <a:alpha val="12000"/>
              </a:srgbClr>
            </a:outerShdw>
          </a:effectLst>
        </p:spPr>
      </p:sp>
      <p:sp>
        <p:nvSpPr>
          <p:cNvPr id="4" name="Form heading"/>
          <p:cNvSpPr txBox="1"/>
          <p:nvPr/>
        </p:nvSpPr>
        <p:spPr>
          <a:xfrm>
            <a:off x="777240" y="1463040"/>
            <a:ext cx="2743200" cy="274320"/>
          </a:xfrm>
          <a:prstGeom prst="rect">
            <a:avLst/>
          </a:prstGeom>
          <a:noFill/>
          <a:ln/>
        </p:spPr>
        <p:txBody>
          <a:bodyPr wrap="square" lIns="0" tIns="0" rIns="0" bIns="0" rtlCol="0" anchor="t"/>
          <a:lstStyle/>
          <a:p>
            <a:pPr marL="0" indent="0">
              <a:buNone/>
            </a:pPr>
            <a:r>
              <a:rPr lang="en-US" sz="1600" b="1" dirty="0">
                <a:solidFill>
                  <a:schemeClr val="tx1"/>
                </a:solidFill>
              </a:rPr>
              <a:t>Create Task</a:t>
            </a:r>
            <a:endParaRPr lang="en-US" sz="1600" dirty="0"/>
          </a:p>
        </p:txBody>
      </p:sp>
      <p:sp>
        <p:nvSpPr>
          <p:cNvPr id="5" name="Label Task Title"/>
          <p:cNvSpPr txBox="1"/>
          <p:nvPr/>
        </p:nvSpPr>
        <p:spPr>
          <a:xfrm>
            <a:off x="777240" y="1874520"/>
            <a:ext cx="3291840" cy="182880"/>
          </a:xfrm>
          <a:prstGeom prst="rect">
            <a:avLst/>
          </a:prstGeom>
          <a:noFill/>
          <a:ln/>
        </p:spPr>
        <p:txBody>
          <a:bodyPr wrap="square" lIns="0" tIns="0" rIns="0" bIns="0" rtlCol="0" anchor="t"/>
          <a:lstStyle/>
          <a:p>
            <a:pPr marL="0" indent="0">
              <a:buNone/>
            </a:pPr>
            <a:r>
              <a:rPr lang="en-US" sz="1100" b="1" dirty="0">
                <a:solidFill>
                  <a:schemeClr val="tx2"/>
                </a:solidFill>
              </a:rPr>
              <a:t>Task Title</a:t>
            </a:r>
            <a:endParaRPr lang="en-US" sz="1100" dirty="0"/>
          </a:p>
        </p:txBody>
      </p:sp>
      <p:sp>
        <p:nvSpPr>
          <p:cNvPr id="6" name="Input Task Title"/>
          <p:cNvSpPr/>
          <p:nvPr/>
        </p:nvSpPr>
        <p:spPr>
          <a:xfrm>
            <a:off x="777240" y="2075688"/>
            <a:ext cx="3291840" cy="310896"/>
          </a:xfrm>
          <a:prstGeom prst="roundRect">
            <a:avLst>
              <a:gd name="adj" fmla="val 23529"/>
            </a:avLst>
          </a:prstGeom>
          <a:solidFill>
            <a:schemeClr val="bg2"/>
          </a:solidFill>
          <a:ln/>
        </p:spPr>
      </p:sp>
      <p:sp>
        <p:nvSpPr>
          <p:cNvPr id="7" name="Placeholder Task Title"/>
          <p:cNvSpPr txBox="1"/>
          <p:nvPr/>
        </p:nvSpPr>
        <p:spPr>
          <a:xfrm>
            <a:off x="886968" y="2075688"/>
            <a:ext cx="3108960" cy="310896"/>
          </a:xfrm>
          <a:prstGeom prst="rect">
            <a:avLst/>
          </a:prstGeom>
          <a:noFill/>
          <a:ln/>
        </p:spPr>
        <p:txBody>
          <a:bodyPr wrap="square" lIns="0" tIns="0" rIns="0" bIns="0" rtlCol="0" anchor="ctr"/>
          <a:lstStyle/>
          <a:p>
            <a:pPr marL="0" indent="0">
              <a:buNone/>
            </a:pPr>
            <a:r>
              <a:rPr lang="en-US" sz="1100" dirty="0">
                <a:solidFill>
                  <a:schemeClr val="tx2"/>
                </a:solidFill>
              </a:rPr>
              <a:t>e.g. Revise Maths Unit 3</a:t>
            </a:r>
            <a:endParaRPr lang="en-US" sz="1100" dirty="0"/>
          </a:p>
        </p:txBody>
      </p:sp>
      <p:sp>
        <p:nvSpPr>
          <p:cNvPr id="8" name="Label Description"/>
          <p:cNvSpPr txBox="1"/>
          <p:nvPr/>
        </p:nvSpPr>
        <p:spPr>
          <a:xfrm>
            <a:off x="777240" y="2468880"/>
            <a:ext cx="3291840" cy="182880"/>
          </a:xfrm>
          <a:prstGeom prst="rect">
            <a:avLst/>
          </a:prstGeom>
          <a:noFill/>
          <a:ln/>
        </p:spPr>
        <p:txBody>
          <a:bodyPr wrap="square" lIns="0" tIns="0" rIns="0" bIns="0" rtlCol="0" anchor="t"/>
          <a:lstStyle/>
          <a:p>
            <a:pPr marL="0" indent="0">
              <a:buNone/>
            </a:pPr>
            <a:r>
              <a:rPr lang="en-US" sz="1100" b="1" dirty="0">
                <a:solidFill>
                  <a:schemeClr val="tx2"/>
                </a:solidFill>
              </a:rPr>
              <a:t>Description</a:t>
            </a:r>
            <a:endParaRPr lang="en-US" sz="1100" dirty="0"/>
          </a:p>
        </p:txBody>
      </p:sp>
      <p:sp>
        <p:nvSpPr>
          <p:cNvPr id="9" name="Input Description"/>
          <p:cNvSpPr/>
          <p:nvPr/>
        </p:nvSpPr>
        <p:spPr>
          <a:xfrm>
            <a:off x="777240" y="2670048"/>
            <a:ext cx="3291840" cy="310896"/>
          </a:xfrm>
          <a:prstGeom prst="roundRect">
            <a:avLst>
              <a:gd name="adj" fmla="val 23529"/>
            </a:avLst>
          </a:prstGeom>
          <a:solidFill>
            <a:schemeClr val="bg2"/>
          </a:solidFill>
          <a:ln/>
        </p:spPr>
      </p:sp>
      <p:sp>
        <p:nvSpPr>
          <p:cNvPr id="10" name="Placeholder Description"/>
          <p:cNvSpPr txBox="1"/>
          <p:nvPr/>
        </p:nvSpPr>
        <p:spPr>
          <a:xfrm>
            <a:off x="886968" y="2670048"/>
            <a:ext cx="3108960" cy="310896"/>
          </a:xfrm>
          <a:prstGeom prst="rect">
            <a:avLst/>
          </a:prstGeom>
          <a:noFill/>
          <a:ln/>
        </p:spPr>
        <p:txBody>
          <a:bodyPr wrap="square" lIns="0" tIns="0" rIns="0" bIns="0" rtlCol="0" anchor="ctr"/>
          <a:lstStyle/>
          <a:p>
            <a:pPr marL="0" indent="0">
              <a:buNone/>
            </a:pPr>
            <a:r>
              <a:rPr lang="en-US" sz="1100" dirty="0">
                <a:solidFill>
                  <a:schemeClr val="tx2"/>
                </a:solidFill>
              </a:rPr>
              <a:t>Short details...</a:t>
            </a:r>
            <a:endParaRPr lang="en-US" sz="1100" dirty="0"/>
          </a:p>
        </p:txBody>
      </p:sp>
      <p:sp>
        <p:nvSpPr>
          <p:cNvPr id="11" name="Label Category"/>
          <p:cNvSpPr txBox="1"/>
          <p:nvPr/>
        </p:nvSpPr>
        <p:spPr>
          <a:xfrm>
            <a:off x="777240" y="3063240"/>
            <a:ext cx="1554480" cy="182880"/>
          </a:xfrm>
          <a:prstGeom prst="rect">
            <a:avLst/>
          </a:prstGeom>
          <a:noFill/>
          <a:ln/>
        </p:spPr>
        <p:txBody>
          <a:bodyPr wrap="square" lIns="0" tIns="0" rIns="0" bIns="0" rtlCol="0" anchor="t"/>
          <a:lstStyle/>
          <a:p>
            <a:pPr marL="0" indent="0">
              <a:buNone/>
            </a:pPr>
            <a:r>
              <a:rPr lang="en-US" sz="1100" b="1" dirty="0">
                <a:solidFill>
                  <a:schemeClr val="tx2"/>
                </a:solidFill>
              </a:rPr>
              <a:t>Category</a:t>
            </a:r>
            <a:endParaRPr lang="en-US" sz="1100" dirty="0"/>
          </a:p>
        </p:txBody>
      </p:sp>
      <p:sp>
        <p:nvSpPr>
          <p:cNvPr id="12" name="Input Category"/>
          <p:cNvSpPr/>
          <p:nvPr/>
        </p:nvSpPr>
        <p:spPr>
          <a:xfrm>
            <a:off x="777240" y="3264408"/>
            <a:ext cx="1554480" cy="310896"/>
          </a:xfrm>
          <a:prstGeom prst="roundRect">
            <a:avLst>
              <a:gd name="adj" fmla="val 23529"/>
            </a:avLst>
          </a:prstGeom>
          <a:solidFill>
            <a:schemeClr val="bg2"/>
          </a:solidFill>
          <a:ln/>
        </p:spPr>
      </p:sp>
      <p:sp>
        <p:nvSpPr>
          <p:cNvPr id="13" name="Placeholder Category"/>
          <p:cNvSpPr txBox="1"/>
          <p:nvPr/>
        </p:nvSpPr>
        <p:spPr>
          <a:xfrm>
            <a:off x="886968" y="3264408"/>
            <a:ext cx="1371600" cy="310896"/>
          </a:xfrm>
          <a:prstGeom prst="rect">
            <a:avLst/>
          </a:prstGeom>
          <a:noFill/>
          <a:ln/>
        </p:spPr>
        <p:txBody>
          <a:bodyPr wrap="square" lIns="0" tIns="0" rIns="0" bIns="0" rtlCol="0" anchor="ctr"/>
          <a:lstStyle/>
          <a:p>
            <a:pPr marL="0" indent="0">
              <a:buNone/>
            </a:pPr>
            <a:r>
              <a:rPr lang="en-US" sz="1100" dirty="0">
                <a:solidFill>
                  <a:schemeClr val="tx2"/>
                </a:solidFill>
              </a:rPr>
              <a:t>Studies</a:t>
            </a:r>
            <a:endParaRPr lang="en-US" sz="1100" dirty="0"/>
          </a:p>
        </p:txBody>
      </p:sp>
      <p:sp>
        <p:nvSpPr>
          <p:cNvPr id="14" name="Label Priority"/>
          <p:cNvSpPr txBox="1"/>
          <p:nvPr/>
        </p:nvSpPr>
        <p:spPr>
          <a:xfrm>
            <a:off x="2514600" y="3063240"/>
            <a:ext cx="1554480" cy="182880"/>
          </a:xfrm>
          <a:prstGeom prst="rect">
            <a:avLst/>
          </a:prstGeom>
          <a:noFill/>
          <a:ln/>
        </p:spPr>
        <p:txBody>
          <a:bodyPr wrap="square" lIns="0" tIns="0" rIns="0" bIns="0" rtlCol="0" anchor="t"/>
          <a:lstStyle/>
          <a:p>
            <a:pPr marL="0" indent="0">
              <a:buNone/>
            </a:pPr>
            <a:r>
              <a:rPr lang="en-US" sz="1100" b="1" dirty="0">
                <a:solidFill>
                  <a:schemeClr val="tx2"/>
                </a:solidFill>
              </a:rPr>
              <a:t>Priority</a:t>
            </a:r>
            <a:endParaRPr lang="en-US" sz="1100" dirty="0"/>
          </a:p>
        </p:txBody>
      </p:sp>
      <p:sp>
        <p:nvSpPr>
          <p:cNvPr id="15" name="Input Priority"/>
          <p:cNvSpPr/>
          <p:nvPr/>
        </p:nvSpPr>
        <p:spPr>
          <a:xfrm>
            <a:off x="2514600" y="3264408"/>
            <a:ext cx="1554480" cy="310896"/>
          </a:xfrm>
          <a:prstGeom prst="roundRect">
            <a:avLst>
              <a:gd name="adj" fmla="val 23529"/>
            </a:avLst>
          </a:prstGeom>
          <a:solidFill>
            <a:schemeClr val="bg2"/>
          </a:solidFill>
          <a:ln/>
        </p:spPr>
      </p:sp>
      <p:sp>
        <p:nvSpPr>
          <p:cNvPr id="16" name="Placeholder Priority"/>
          <p:cNvSpPr txBox="1"/>
          <p:nvPr/>
        </p:nvSpPr>
        <p:spPr>
          <a:xfrm>
            <a:off x="2624328" y="3264408"/>
            <a:ext cx="1371600" cy="310896"/>
          </a:xfrm>
          <a:prstGeom prst="rect">
            <a:avLst/>
          </a:prstGeom>
          <a:noFill/>
          <a:ln/>
        </p:spPr>
        <p:txBody>
          <a:bodyPr wrap="square" lIns="0" tIns="0" rIns="0" bIns="0" rtlCol="0" anchor="ctr"/>
          <a:lstStyle/>
          <a:p>
            <a:pPr marL="0" indent="0">
              <a:buNone/>
            </a:pPr>
            <a:r>
              <a:rPr lang="en-US" sz="1100" dirty="0">
                <a:solidFill>
                  <a:schemeClr val="tx2"/>
                </a:solidFill>
              </a:rPr>
              <a:t>Medium</a:t>
            </a:r>
            <a:endParaRPr lang="en-US" sz="1100" dirty="0"/>
          </a:p>
        </p:txBody>
      </p:sp>
      <p:sp>
        <p:nvSpPr>
          <p:cNvPr id="17" name="Label Due Date"/>
          <p:cNvSpPr txBox="1"/>
          <p:nvPr/>
        </p:nvSpPr>
        <p:spPr>
          <a:xfrm>
            <a:off x="777240" y="3657600"/>
            <a:ext cx="1554480" cy="182880"/>
          </a:xfrm>
          <a:prstGeom prst="rect">
            <a:avLst/>
          </a:prstGeom>
          <a:noFill/>
          <a:ln/>
        </p:spPr>
        <p:txBody>
          <a:bodyPr wrap="square" lIns="0" tIns="0" rIns="0" bIns="0" rtlCol="0" anchor="t"/>
          <a:lstStyle/>
          <a:p>
            <a:pPr marL="0" indent="0">
              <a:buNone/>
            </a:pPr>
            <a:r>
              <a:rPr lang="en-US" sz="1100" b="1" dirty="0">
                <a:solidFill>
                  <a:schemeClr val="tx2"/>
                </a:solidFill>
              </a:rPr>
              <a:t>Due Date</a:t>
            </a:r>
            <a:endParaRPr lang="en-US" sz="1100" dirty="0"/>
          </a:p>
        </p:txBody>
      </p:sp>
      <p:sp>
        <p:nvSpPr>
          <p:cNvPr id="18" name="Input Due Date"/>
          <p:cNvSpPr/>
          <p:nvPr/>
        </p:nvSpPr>
        <p:spPr>
          <a:xfrm>
            <a:off x="777240" y="3858768"/>
            <a:ext cx="1554480" cy="310896"/>
          </a:xfrm>
          <a:prstGeom prst="roundRect">
            <a:avLst>
              <a:gd name="adj" fmla="val 23529"/>
            </a:avLst>
          </a:prstGeom>
          <a:solidFill>
            <a:schemeClr val="bg2"/>
          </a:solidFill>
          <a:ln/>
        </p:spPr>
      </p:sp>
      <p:sp>
        <p:nvSpPr>
          <p:cNvPr id="19" name="Placeholder Due Date"/>
          <p:cNvSpPr txBox="1"/>
          <p:nvPr/>
        </p:nvSpPr>
        <p:spPr>
          <a:xfrm>
            <a:off x="886968" y="3858768"/>
            <a:ext cx="1371600" cy="310896"/>
          </a:xfrm>
          <a:prstGeom prst="rect">
            <a:avLst/>
          </a:prstGeom>
          <a:noFill/>
          <a:ln/>
        </p:spPr>
        <p:txBody>
          <a:bodyPr wrap="square" lIns="0" tIns="0" rIns="0" bIns="0" rtlCol="0" anchor="ctr"/>
          <a:lstStyle/>
          <a:p>
            <a:pPr marL="0" indent="0">
              <a:buNone/>
            </a:pPr>
            <a:r>
              <a:rPr lang="en-US" sz="1100" dirty="0">
                <a:solidFill>
                  <a:schemeClr val="tx2"/>
                </a:solidFill>
              </a:rPr>
              <a:t>Pick a date</a:t>
            </a:r>
            <a:endParaRPr lang="en-US" sz="1100" dirty="0"/>
          </a:p>
        </p:txBody>
      </p:sp>
      <p:sp>
        <p:nvSpPr>
          <p:cNvPr id="20" name="Add Task button"/>
          <p:cNvSpPr/>
          <p:nvPr/>
        </p:nvSpPr>
        <p:spPr>
          <a:xfrm>
            <a:off x="2514600" y="3858768"/>
            <a:ext cx="1554480" cy="310896"/>
          </a:xfrm>
          <a:prstGeom prst="roundRect">
            <a:avLst>
              <a:gd name="adj" fmla="val 50000"/>
            </a:avLst>
          </a:prstGeom>
          <a:solidFill>
            <a:schemeClr val="accent1"/>
          </a:solidFill>
          <a:ln/>
        </p:spPr>
      </p:sp>
      <p:sp>
        <p:nvSpPr>
          <p:cNvPr id="21" name="Add Task text"/>
          <p:cNvSpPr txBox="1"/>
          <p:nvPr/>
        </p:nvSpPr>
        <p:spPr>
          <a:xfrm>
            <a:off x="2514600" y="3858768"/>
            <a:ext cx="1554480" cy="310896"/>
          </a:xfrm>
          <a:prstGeom prst="rect">
            <a:avLst/>
          </a:prstGeom>
          <a:noFill/>
          <a:ln/>
        </p:spPr>
        <p:txBody>
          <a:bodyPr wrap="square" lIns="0" tIns="0" rIns="0" bIns="0" rtlCol="0" anchor="ctr"/>
          <a:lstStyle/>
          <a:p>
            <a:pPr marL="0" indent="0" algn="ctr">
              <a:buNone/>
            </a:pPr>
            <a:r>
              <a:rPr lang="en-US" sz="1200" b="1" dirty="0">
                <a:solidFill>
                  <a:schemeClr val="bg1"/>
                </a:solidFill>
              </a:rPr>
              <a:t>Add Task</a:t>
            </a:r>
            <a:endParaRPr lang="en-US" sz="1200" dirty="0"/>
          </a:p>
        </p:txBody>
      </p:sp>
      <p:sp>
        <p:nvSpPr>
          <p:cNvPr id="22" name="Icon circle FiEdit2"/>
          <p:cNvSpPr/>
          <p:nvPr/>
        </p:nvSpPr>
        <p:spPr>
          <a:xfrm>
            <a:off x="4663440" y="1280160"/>
            <a:ext cx="457200" cy="457200"/>
          </a:xfrm>
          <a:prstGeom prst="ellipse">
            <a:avLst/>
          </a:prstGeom>
          <a:solidFill>
            <a:schemeClr val="accent1"/>
          </a:solidFill>
          <a:ln/>
        </p:spPr>
      </p:sp>
      <p:pic>
        <p:nvPicPr>
          <p:cNvPr id="23" name="Icon FiEdit2" descr="Edit2 icon"/>
          <p:cNvPicPr>
            <a:picLocks noChangeAspect="1"/>
          </p:cNvPicPr>
          <p:nvPr/>
        </p:nvPicPr>
        <p:blipFill>
          <a:blip r:embed="rId3"/>
          <a:stretch>
            <a:fillRect/>
          </a:stretch>
        </p:blipFill>
        <p:spPr>
          <a:xfrm>
            <a:off x="4777740" y="1394460"/>
            <a:ext cx="228600" cy="228600"/>
          </a:xfrm>
          <a:prstGeom prst="rect">
            <a:avLst/>
          </a:prstGeom>
        </p:spPr>
      </p:pic>
      <p:sp>
        <p:nvSpPr>
          <p:cNvPr id="24" name="Task feature 1"/>
          <p:cNvSpPr txBox="1"/>
          <p:nvPr/>
        </p:nvSpPr>
        <p:spPr>
          <a:xfrm>
            <a:off x="5303520" y="123444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Edit: </a:t>
            </a:r>
            <a:r>
              <a:rPr lang="en-US" sz="1400" dirty="0">
                <a:solidFill>
                  <a:schemeClr val="tx1"/>
                </a:solidFill>
              </a:rPr>
              <a:t>change any detail in a pop-up window</a:t>
            </a:r>
            <a:endParaRPr lang="en-US" sz="1400" dirty="0"/>
          </a:p>
        </p:txBody>
      </p:sp>
      <p:sp>
        <p:nvSpPr>
          <p:cNvPr id="25" name="Icon circle FiTrash2"/>
          <p:cNvSpPr/>
          <p:nvPr/>
        </p:nvSpPr>
        <p:spPr>
          <a:xfrm>
            <a:off x="4663440" y="2011680"/>
            <a:ext cx="457200" cy="457200"/>
          </a:xfrm>
          <a:prstGeom prst="ellipse">
            <a:avLst/>
          </a:prstGeom>
          <a:solidFill>
            <a:schemeClr val="accent1"/>
          </a:solidFill>
          <a:ln/>
        </p:spPr>
      </p:sp>
      <p:pic>
        <p:nvPicPr>
          <p:cNvPr id="26" name="Icon FiTrash2" descr="Trash2 icon"/>
          <p:cNvPicPr>
            <a:picLocks noChangeAspect="1"/>
          </p:cNvPicPr>
          <p:nvPr/>
        </p:nvPicPr>
        <p:blipFill>
          <a:blip r:embed="rId4"/>
          <a:stretch>
            <a:fillRect/>
          </a:stretch>
        </p:blipFill>
        <p:spPr>
          <a:xfrm>
            <a:off x="4777740" y="2125980"/>
            <a:ext cx="228600" cy="228600"/>
          </a:xfrm>
          <a:prstGeom prst="rect">
            <a:avLst/>
          </a:prstGeom>
        </p:spPr>
      </p:pic>
      <p:sp>
        <p:nvSpPr>
          <p:cNvPr id="27" name="Task feature 2"/>
          <p:cNvSpPr txBox="1"/>
          <p:nvPr/>
        </p:nvSpPr>
        <p:spPr>
          <a:xfrm>
            <a:off x="5303520" y="196596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Delete with Undo: </a:t>
            </a:r>
            <a:r>
              <a:rPr lang="en-US" sz="1400" dirty="0">
                <a:solidFill>
                  <a:schemeClr val="tx1"/>
                </a:solidFill>
              </a:rPr>
              <a:t>removed by mistake? bring it back within 5 seconds</a:t>
            </a:r>
            <a:endParaRPr lang="en-US" sz="1400" dirty="0"/>
          </a:p>
        </p:txBody>
      </p:sp>
      <p:sp>
        <p:nvSpPr>
          <p:cNvPr id="28" name="Icon circle FiSearch"/>
          <p:cNvSpPr/>
          <p:nvPr/>
        </p:nvSpPr>
        <p:spPr>
          <a:xfrm>
            <a:off x="4663440" y="2743200"/>
            <a:ext cx="457200" cy="457200"/>
          </a:xfrm>
          <a:prstGeom prst="ellipse">
            <a:avLst/>
          </a:prstGeom>
          <a:solidFill>
            <a:schemeClr val="accent1"/>
          </a:solidFill>
          <a:ln/>
        </p:spPr>
      </p:sp>
      <p:pic>
        <p:nvPicPr>
          <p:cNvPr id="29" name="Icon FiSearch" descr="Search icon"/>
          <p:cNvPicPr>
            <a:picLocks noChangeAspect="1"/>
          </p:cNvPicPr>
          <p:nvPr/>
        </p:nvPicPr>
        <p:blipFill>
          <a:blip r:embed="rId5"/>
          <a:stretch>
            <a:fillRect/>
          </a:stretch>
        </p:blipFill>
        <p:spPr>
          <a:xfrm>
            <a:off x="4777740" y="2857500"/>
            <a:ext cx="228600" cy="228600"/>
          </a:xfrm>
          <a:prstGeom prst="rect">
            <a:avLst/>
          </a:prstGeom>
        </p:spPr>
      </p:pic>
      <p:sp>
        <p:nvSpPr>
          <p:cNvPr id="30" name="Task feature 3"/>
          <p:cNvSpPr txBox="1"/>
          <p:nvPr/>
        </p:nvSpPr>
        <p:spPr>
          <a:xfrm>
            <a:off x="5303520" y="269748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Search, filter, sort: </a:t>
            </a:r>
            <a:r>
              <a:rPr lang="en-US" sz="1400" dirty="0">
                <a:solidFill>
                  <a:schemeClr val="tx1"/>
                </a:solidFill>
              </a:rPr>
              <a:t>by name, category, status or deadline</a:t>
            </a:r>
            <a:endParaRPr lang="en-US" sz="1400" dirty="0"/>
          </a:p>
        </p:txBody>
      </p:sp>
      <p:sp>
        <p:nvSpPr>
          <p:cNvPr id="31" name="Icon circle FiCheckCircle"/>
          <p:cNvSpPr/>
          <p:nvPr/>
        </p:nvSpPr>
        <p:spPr>
          <a:xfrm>
            <a:off x="4663440" y="3474720"/>
            <a:ext cx="457200" cy="457200"/>
          </a:xfrm>
          <a:prstGeom prst="ellipse">
            <a:avLst/>
          </a:prstGeom>
          <a:solidFill>
            <a:schemeClr val="accent1"/>
          </a:solidFill>
          <a:ln/>
        </p:spPr>
      </p:sp>
      <p:pic>
        <p:nvPicPr>
          <p:cNvPr id="32" name="Icon FiCheckCircle" descr="CheckCircle icon"/>
          <p:cNvPicPr>
            <a:picLocks noChangeAspect="1"/>
          </p:cNvPicPr>
          <p:nvPr/>
        </p:nvPicPr>
        <p:blipFill>
          <a:blip r:embed="rId6"/>
          <a:stretch>
            <a:fillRect/>
          </a:stretch>
        </p:blipFill>
        <p:spPr>
          <a:xfrm>
            <a:off x="4777740" y="3589020"/>
            <a:ext cx="228600" cy="228600"/>
          </a:xfrm>
          <a:prstGeom prst="rect">
            <a:avLst/>
          </a:prstGeom>
        </p:spPr>
      </p:pic>
      <p:sp>
        <p:nvSpPr>
          <p:cNvPr id="33" name="Task feature 4"/>
          <p:cNvSpPr txBox="1"/>
          <p:nvPr/>
        </p:nvSpPr>
        <p:spPr>
          <a:xfrm>
            <a:off x="5303520" y="3429000"/>
            <a:ext cx="3291840" cy="548640"/>
          </a:xfrm>
          <a:prstGeom prst="rect">
            <a:avLst/>
          </a:prstGeom>
          <a:noFill/>
          <a:ln/>
        </p:spPr>
        <p:txBody>
          <a:bodyPr wrap="square" lIns="0" tIns="0" rIns="0" bIns="0" rtlCol="0" anchor="ctr"/>
          <a:lstStyle/>
          <a:p>
            <a:pPr marL="0" indent="0">
              <a:buNone/>
            </a:pPr>
            <a:r>
              <a:rPr lang="en-US" sz="1400" b="1" dirty="0">
                <a:solidFill>
                  <a:schemeClr val="tx1"/>
                </a:solidFill>
              </a:rPr>
              <a:t>Complete: </a:t>
            </a:r>
            <a:r>
              <a:rPr lang="en-US" sz="1400" dirty="0">
                <a:solidFill>
                  <a:schemeClr val="tx1"/>
                </a:solidFill>
              </a:rPr>
              <a:t>tick a task to finish it with a confetti burst</a:t>
            </a:r>
            <a:endParaRPr lang="en-US" sz="1400" dirty="0"/>
          </a:p>
        </p:txBody>
      </p:sp>
      <p:sp>
        <p:nvSpPr>
          <p:cNvPr id="34" name="Priority label"/>
          <p:cNvSpPr txBox="1"/>
          <p:nvPr/>
        </p:nvSpPr>
        <p:spPr>
          <a:xfrm>
            <a:off x="4663440" y="4251960"/>
            <a:ext cx="1097280" cy="274320"/>
          </a:xfrm>
          <a:prstGeom prst="rect">
            <a:avLst/>
          </a:prstGeom>
          <a:noFill/>
          <a:ln/>
        </p:spPr>
        <p:txBody>
          <a:bodyPr wrap="square" lIns="0" tIns="0" rIns="0" bIns="0" rtlCol="0" anchor="ctr"/>
          <a:lstStyle/>
          <a:p>
            <a:pPr marL="0" indent="0">
              <a:buNone/>
            </a:pPr>
            <a:r>
              <a:rPr lang="en-US" sz="1400" b="1" dirty="0">
                <a:solidFill>
                  <a:schemeClr val="tx1"/>
                </a:solidFill>
              </a:rPr>
              <a:t>Priority tags</a:t>
            </a:r>
            <a:endParaRPr lang="en-US" sz="1400" dirty="0"/>
          </a:p>
        </p:txBody>
      </p:sp>
      <p:sp>
        <p:nvSpPr>
          <p:cNvPr id="35" name="Chip High"/>
          <p:cNvSpPr/>
          <p:nvPr/>
        </p:nvSpPr>
        <p:spPr>
          <a:xfrm>
            <a:off x="5852160" y="4270248"/>
            <a:ext cx="731520" cy="237744"/>
          </a:xfrm>
          <a:prstGeom prst="roundRect">
            <a:avLst>
              <a:gd name="adj" fmla="val 50000"/>
            </a:avLst>
          </a:prstGeom>
          <a:solidFill>
            <a:srgbClr val="FEE2E2"/>
          </a:solidFill>
          <a:ln/>
        </p:spPr>
      </p:sp>
      <p:sp>
        <p:nvSpPr>
          <p:cNvPr id="36" name="Chip text High"/>
          <p:cNvSpPr txBox="1"/>
          <p:nvPr/>
        </p:nvSpPr>
        <p:spPr>
          <a:xfrm>
            <a:off x="5852160" y="4270248"/>
            <a:ext cx="731520" cy="237744"/>
          </a:xfrm>
          <a:prstGeom prst="rect">
            <a:avLst/>
          </a:prstGeom>
          <a:noFill/>
          <a:ln/>
        </p:spPr>
        <p:txBody>
          <a:bodyPr wrap="square" lIns="0" tIns="0" rIns="0" bIns="0" rtlCol="0" anchor="ctr"/>
          <a:lstStyle/>
          <a:p>
            <a:pPr marL="0" indent="0" algn="ctr">
              <a:buNone/>
            </a:pPr>
            <a:r>
              <a:rPr lang="en-US" sz="1000" b="1" dirty="0">
                <a:solidFill>
                  <a:srgbClr val="B91C1C"/>
                </a:solidFill>
              </a:rPr>
              <a:t>High</a:t>
            </a:r>
            <a:endParaRPr lang="en-US" sz="1000" dirty="0"/>
          </a:p>
        </p:txBody>
      </p:sp>
      <p:sp>
        <p:nvSpPr>
          <p:cNvPr id="37" name="Chip Medium"/>
          <p:cNvSpPr/>
          <p:nvPr/>
        </p:nvSpPr>
        <p:spPr>
          <a:xfrm>
            <a:off x="6675120" y="4270248"/>
            <a:ext cx="731520" cy="237744"/>
          </a:xfrm>
          <a:prstGeom prst="roundRect">
            <a:avLst>
              <a:gd name="adj" fmla="val 50000"/>
            </a:avLst>
          </a:prstGeom>
          <a:solidFill>
            <a:srgbClr val="FEF3C7"/>
          </a:solidFill>
          <a:ln/>
        </p:spPr>
      </p:sp>
      <p:sp>
        <p:nvSpPr>
          <p:cNvPr id="38" name="Chip text Medium"/>
          <p:cNvSpPr txBox="1"/>
          <p:nvPr/>
        </p:nvSpPr>
        <p:spPr>
          <a:xfrm>
            <a:off x="6675120" y="4270248"/>
            <a:ext cx="731520" cy="237744"/>
          </a:xfrm>
          <a:prstGeom prst="rect">
            <a:avLst/>
          </a:prstGeom>
          <a:noFill/>
          <a:ln/>
        </p:spPr>
        <p:txBody>
          <a:bodyPr wrap="square" lIns="0" tIns="0" rIns="0" bIns="0" rtlCol="0" anchor="ctr"/>
          <a:lstStyle/>
          <a:p>
            <a:pPr marL="0" indent="0" algn="ctr">
              <a:buNone/>
            </a:pPr>
            <a:r>
              <a:rPr lang="en-US" sz="1000" b="1" dirty="0">
                <a:solidFill>
                  <a:srgbClr val="92400E"/>
                </a:solidFill>
              </a:rPr>
              <a:t>Medium</a:t>
            </a:r>
            <a:endParaRPr lang="en-US" sz="1000" dirty="0"/>
          </a:p>
        </p:txBody>
      </p:sp>
      <p:sp>
        <p:nvSpPr>
          <p:cNvPr id="39" name="Chip Low"/>
          <p:cNvSpPr/>
          <p:nvPr/>
        </p:nvSpPr>
        <p:spPr>
          <a:xfrm>
            <a:off x="7498080" y="4270248"/>
            <a:ext cx="731520" cy="237744"/>
          </a:xfrm>
          <a:prstGeom prst="roundRect">
            <a:avLst>
              <a:gd name="adj" fmla="val 50000"/>
            </a:avLst>
          </a:prstGeom>
          <a:solidFill>
            <a:srgbClr val="D1FAE5"/>
          </a:solidFill>
          <a:ln/>
        </p:spPr>
      </p:sp>
      <p:sp>
        <p:nvSpPr>
          <p:cNvPr id="40" name="Chip text Low"/>
          <p:cNvSpPr txBox="1"/>
          <p:nvPr/>
        </p:nvSpPr>
        <p:spPr>
          <a:xfrm>
            <a:off x="7498080" y="4270248"/>
            <a:ext cx="731520" cy="237744"/>
          </a:xfrm>
          <a:prstGeom prst="rect">
            <a:avLst/>
          </a:prstGeom>
          <a:noFill/>
          <a:ln/>
        </p:spPr>
        <p:txBody>
          <a:bodyPr wrap="square" lIns="0" tIns="0" rIns="0" bIns="0" rtlCol="0" anchor="ctr"/>
          <a:lstStyle/>
          <a:p>
            <a:pPr marL="0" indent="0" algn="ctr">
              <a:buNone/>
            </a:pPr>
            <a:r>
              <a:rPr lang="en-US" sz="1000" b="1" dirty="0">
                <a:solidFill>
                  <a:srgbClr val="065F46"/>
                </a:solidFill>
              </a:rPr>
              <a:t>Low</a:t>
            </a:r>
            <a:endParaRPr lang="en-US" sz="1000" dirty="0"/>
          </a:p>
        </p:txBody>
      </p:sp>
      <p:sp>
        <p:nvSpPr>
          <p:cNvPr id="4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Kanban board</a:t>
            </a:r>
            <a:endParaRPr lang="en-US" sz="3600" dirty="0"/>
          </a:p>
        </p:txBody>
      </p:sp>
      <p:sp>
        <p:nvSpPr>
          <p:cNvPr id="3" name="Kanban column TO DO"/>
          <p:cNvSpPr/>
          <p:nvPr/>
        </p:nvSpPr>
        <p:spPr>
          <a:xfrm>
            <a:off x="548640" y="1280160"/>
            <a:ext cx="2560320" cy="3017520"/>
          </a:xfrm>
          <a:prstGeom prst="roundRect">
            <a:avLst>
              <a:gd name="adj" fmla="val 5000"/>
            </a:avLst>
          </a:prstGeom>
          <a:solidFill>
            <a:schemeClr val="bg1">
              <a:alpha val="55000"/>
            </a:schemeClr>
          </a:solidFill>
          <a:ln/>
        </p:spPr>
      </p:sp>
      <p:sp>
        <p:nvSpPr>
          <p:cNvPr id="4" name="Column dot TO DO"/>
          <p:cNvSpPr/>
          <p:nvPr/>
        </p:nvSpPr>
        <p:spPr>
          <a:xfrm>
            <a:off x="777240" y="1481328"/>
            <a:ext cx="146304" cy="146304"/>
          </a:xfrm>
          <a:prstGeom prst="ellipse">
            <a:avLst/>
          </a:prstGeom>
          <a:solidFill>
            <a:schemeClr val="accent3"/>
          </a:solidFill>
          <a:ln/>
        </p:spPr>
      </p:sp>
      <p:sp>
        <p:nvSpPr>
          <p:cNvPr id="5" name="Column title TO DO"/>
          <p:cNvSpPr txBox="1"/>
          <p:nvPr/>
        </p:nvSpPr>
        <p:spPr>
          <a:xfrm>
            <a:off x="1024128" y="1417320"/>
            <a:ext cx="1828800" cy="274320"/>
          </a:xfrm>
          <a:prstGeom prst="rect">
            <a:avLst/>
          </a:prstGeom>
          <a:noFill/>
          <a:ln/>
        </p:spPr>
        <p:txBody>
          <a:bodyPr wrap="square" lIns="0" tIns="0" rIns="0" bIns="0" rtlCol="0" anchor="ctr"/>
          <a:lstStyle/>
          <a:p>
            <a:pPr marL="0" indent="0">
              <a:buNone/>
            </a:pPr>
            <a:r>
              <a:rPr lang="en-US" sz="1400" b="1" dirty="0">
                <a:solidFill>
                  <a:schemeClr val="tx1"/>
                </a:solidFill>
              </a:rPr>
              <a:t>TO DO</a:t>
            </a:r>
            <a:endParaRPr lang="en-US" sz="1400" dirty="0"/>
          </a:p>
        </p:txBody>
      </p:sp>
      <p:sp>
        <p:nvSpPr>
          <p:cNvPr id="6" name="Kanban card Football Practice"/>
          <p:cNvSpPr/>
          <p:nvPr/>
        </p:nvSpPr>
        <p:spPr>
          <a:xfrm>
            <a:off x="685800" y="187452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7" name="Kanban title Football Practice"/>
          <p:cNvSpPr txBox="1"/>
          <p:nvPr/>
        </p:nvSpPr>
        <p:spPr>
          <a:xfrm>
            <a:off x="822960" y="1965960"/>
            <a:ext cx="2057400" cy="256032"/>
          </a:xfrm>
          <a:prstGeom prst="rect">
            <a:avLst/>
          </a:prstGeom>
          <a:noFill/>
          <a:ln/>
        </p:spPr>
        <p:txBody>
          <a:bodyPr wrap="square" lIns="0" tIns="0" rIns="0" bIns="0" rtlCol="0" anchor="t"/>
          <a:lstStyle/>
          <a:p>
            <a:pPr marL="0" indent="0">
              <a:buNone/>
            </a:pPr>
            <a:r>
              <a:rPr lang="en-US" sz="1400" b="1" dirty="0">
                <a:solidFill>
                  <a:schemeClr val="tx1"/>
                </a:solidFill>
              </a:rPr>
              <a:t>Football Practice</a:t>
            </a:r>
            <a:endParaRPr lang="en-US" sz="1400" dirty="0"/>
          </a:p>
        </p:txBody>
      </p:sp>
      <p:sp>
        <p:nvSpPr>
          <p:cNvPr id="8" name="Chip Medium"/>
          <p:cNvSpPr/>
          <p:nvPr/>
        </p:nvSpPr>
        <p:spPr>
          <a:xfrm>
            <a:off x="822960" y="2267712"/>
            <a:ext cx="731520" cy="201168"/>
          </a:xfrm>
          <a:prstGeom prst="roundRect">
            <a:avLst>
              <a:gd name="adj" fmla="val 50000"/>
            </a:avLst>
          </a:prstGeom>
          <a:solidFill>
            <a:srgbClr val="FEF3C7"/>
          </a:solidFill>
          <a:ln/>
        </p:spPr>
      </p:sp>
      <p:sp>
        <p:nvSpPr>
          <p:cNvPr id="9" name="Chip text Medium"/>
          <p:cNvSpPr txBox="1"/>
          <p:nvPr/>
        </p:nvSpPr>
        <p:spPr>
          <a:xfrm>
            <a:off x="822960" y="2267712"/>
            <a:ext cx="731520" cy="201168"/>
          </a:xfrm>
          <a:prstGeom prst="rect">
            <a:avLst/>
          </a:prstGeom>
          <a:noFill/>
          <a:ln/>
        </p:spPr>
        <p:txBody>
          <a:bodyPr wrap="square" lIns="0" tIns="0" rIns="0" bIns="0" rtlCol="0" anchor="ctr"/>
          <a:lstStyle/>
          <a:p>
            <a:pPr marL="0" indent="0" algn="ctr">
              <a:buNone/>
            </a:pPr>
            <a:r>
              <a:rPr lang="en-US" sz="1000" b="1" dirty="0">
                <a:solidFill>
                  <a:srgbClr val="92400E"/>
                </a:solidFill>
              </a:rPr>
              <a:t>Medium</a:t>
            </a:r>
            <a:endParaRPr lang="en-US" sz="1000" dirty="0"/>
          </a:p>
        </p:txBody>
      </p:sp>
      <p:sp>
        <p:nvSpPr>
          <p:cNvPr id="10" name="Kanban card Cricket Match"/>
          <p:cNvSpPr/>
          <p:nvPr/>
        </p:nvSpPr>
        <p:spPr>
          <a:xfrm>
            <a:off x="685800" y="265176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11" name="Kanban title Cricket Match"/>
          <p:cNvSpPr txBox="1"/>
          <p:nvPr/>
        </p:nvSpPr>
        <p:spPr>
          <a:xfrm>
            <a:off x="822960" y="2743200"/>
            <a:ext cx="2057400" cy="256032"/>
          </a:xfrm>
          <a:prstGeom prst="rect">
            <a:avLst/>
          </a:prstGeom>
          <a:noFill/>
          <a:ln/>
        </p:spPr>
        <p:txBody>
          <a:bodyPr wrap="square" lIns="0" tIns="0" rIns="0" bIns="0" rtlCol="0" anchor="t"/>
          <a:lstStyle/>
          <a:p>
            <a:pPr marL="0" indent="0">
              <a:buNone/>
            </a:pPr>
            <a:r>
              <a:rPr lang="en-US" sz="1400" b="1" dirty="0">
                <a:solidFill>
                  <a:schemeClr val="tx1"/>
                </a:solidFill>
              </a:rPr>
              <a:t>Cricket Match</a:t>
            </a:r>
            <a:endParaRPr lang="en-US" sz="1400" dirty="0"/>
          </a:p>
        </p:txBody>
      </p:sp>
      <p:sp>
        <p:nvSpPr>
          <p:cNvPr id="12" name="Chip Medium"/>
          <p:cNvSpPr/>
          <p:nvPr/>
        </p:nvSpPr>
        <p:spPr>
          <a:xfrm>
            <a:off x="822960" y="3044952"/>
            <a:ext cx="731520" cy="201168"/>
          </a:xfrm>
          <a:prstGeom prst="roundRect">
            <a:avLst>
              <a:gd name="adj" fmla="val 50000"/>
            </a:avLst>
          </a:prstGeom>
          <a:solidFill>
            <a:srgbClr val="FEF3C7"/>
          </a:solidFill>
          <a:ln/>
        </p:spPr>
      </p:sp>
      <p:sp>
        <p:nvSpPr>
          <p:cNvPr id="13" name="Chip text Medium"/>
          <p:cNvSpPr txBox="1"/>
          <p:nvPr/>
        </p:nvSpPr>
        <p:spPr>
          <a:xfrm>
            <a:off x="822960" y="3044952"/>
            <a:ext cx="731520" cy="201168"/>
          </a:xfrm>
          <a:prstGeom prst="rect">
            <a:avLst/>
          </a:prstGeom>
          <a:noFill/>
          <a:ln/>
        </p:spPr>
        <p:txBody>
          <a:bodyPr wrap="square" lIns="0" tIns="0" rIns="0" bIns="0" rtlCol="0" anchor="ctr"/>
          <a:lstStyle/>
          <a:p>
            <a:pPr marL="0" indent="0" algn="ctr">
              <a:buNone/>
            </a:pPr>
            <a:r>
              <a:rPr lang="en-US" sz="1000" b="1" dirty="0">
                <a:solidFill>
                  <a:srgbClr val="92400E"/>
                </a:solidFill>
              </a:rPr>
              <a:t>Medium</a:t>
            </a:r>
            <a:endParaRPr lang="en-US" sz="1000" dirty="0"/>
          </a:p>
        </p:txBody>
      </p:sp>
      <p:sp>
        <p:nvSpPr>
          <p:cNvPr id="14" name="Kanban card Chemistry Lab Exam"/>
          <p:cNvSpPr/>
          <p:nvPr/>
        </p:nvSpPr>
        <p:spPr>
          <a:xfrm>
            <a:off x="685800" y="342900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15" name="Kanban title Chemistry Lab Exam"/>
          <p:cNvSpPr txBox="1"/>
          <p:nvPr/>
        </p:nvSpPr>
        <p:spPr>
          <a:xfrm>
            <a:off x="822960" y="3520440"/>
            <a:ext cx="2057400" cy="256032"/>
          </a:xfrm>
          <a:prstGeom prst="rect">
            <a:avLst/>
          </a:prstGeom>
          <a:noFill/>
          <a:ln/>
        </p:spPr>
        <p:txBody>
          <a:bodyPr wrap="square" lIns="0" tIns="0" rIns="0" bIns="0" rtlCol="0" anchor="t"/>
          <a:lstStyle/>
          <a:p>
            <a:pPr marL="0" indent="0">
              <a:buNone/>
            </a:pPr>
            <a:r>
              <a:rPr lang="en-US" sz="1400" b="1" dirty="0">
                <a:solidFill>
                  <a:schemeClr val="tx1"/>
                </a:solidFill>
              </a:rPr>
              <a:t>Chemistry Lab Exam</a:t>
            </a:r>
            <a:endParaRPr lang="en-US" sz="1400" dirty="0"/>
          </a:p>
        </p:txBody>
      </p:sp>
      <p:sp>
        <p:nvSpPr>
          <p:cNvPr id="16" name="Chip High"/>
          <p:cNvSpPr/>
          <p:nvPr/>
        </p:nvSpPr>
        <p:spPr>
          <a:xfrm>
            <a:off x="822960" y="3822192"/>
            <a:ext cx="731520" cy="201168"/>
          </a:xfrm>
          <a:prstGeom prst="roundRect">
            <a:avLst>
              <a:gd name="adj" fmla="val 50000"/>
            </a:avLst>
          </a:prstGeom>
          <a:solidFill>
            <a:srgbClr val="FEE2E2"/>
          </a:solidFill>
          <a:ln/>
        </p:spPr>
      </p:sp>
      <p:sp>
        <p:nvSpPr>
          <p:cNvPr id="17" name="Chip text High"/>
          <p:cNvSpPr txBox="1"/>
          <p:nvPr/>
        </p:nvSpPr>
        <p:spPr>
          <a:xfrm>
            <a:off x="822960" y="3822192"/>
            <a:ext cx="731520" cy="201168"/>
          </a:xfrm>
          <a:prstGeom prst="rect">
            <a:avLst/>
          </a:prstGeom>
          <a:noFill/>
          <a:ln/>
        </p:spPr>
        <p:txBody>
          <a:bodyPr wrap="square" lIns="0" tIns="0" rIns="0" bIns="0" rtlCol="0" anchor="ctr"/>
          <a:lstStyle/>
          <a:p>
            <a:pPr marL="0" indent="0" algn="ctr">
              <a:buNone/>
            </a:pPr>
            <a:r>
              <a:rPr lang="en-US" sz="1000" b="1" dirty="0">
                <a:solidFill>
                  <a:srgbClr val="B91C1C"/>
                </a:solidFill>
              </a:rPr>
              <a:t>High</a:t>
            </a:r>
            <a:endParaRPr lang="en-US" sz="1000" dirty="0"/>
          </a:p>
        </p:txBody>
      </p:sp>
      <p:sp>
        <p:nvSpPr>
          <p:cNvPr id="18" name="Kanban column IN PROGRESS"/>
          <p:cNvSpPr/>
          <p:nvPr/>
        </p:nvSpPr>
        <p:spPr>
          <a:xfrm>
            <a:off x="3383280" y="1280160"/>
            <a:ext cx="2560320" cy="3017520"/>
          </a:xfrm>
          <a:prstGeom prst="roundRect">
            <a:avLst>
              <a:gd name="adj" fmla="val 5000"/>
            </a:avLst>
          </a:prstGeom>
          <a:solidFill>
            <a:schemeClr val="bg1">
              <a:alpha val="55000"/>
            </a:schemeClr>
          </a:solidFill>
          <a:ln/>
        </p:spPr>
      </p:sp>
      <p:sp>
        <p:nvSpPr>
          <p:cNvPr id="19" name="Column dot IN PROGRESS"/>
          <p:cNvSpPr/>
          <p:nvPr/>
        </p:nvSpPr>
        <p:spPr>
          <a:xfrm>
            <a:off x="3611880" y="1481328"/>
            <a:ext cx="146304" cy="146304"/>
          </a:xfrm>
          <a:prstGeom prst="ellipse">
            <a:avLst/>
          </a:prstGeom>
          <a:solidFill>
            <a:schemeClr val="accent5"/>
          </a:solidFill>
          <a:ln/>
        </p:spPr>
      </p:sp>
      <p:sp>
        <p:nvSpPr>
          <p:cNvPr id="20" name="Column title IN PROGRESS"/>
          <p:cNvSpPr txBox="1"/>
          <p:nvPr/>
        </p:nvSpPr>
        <p:spPr>
          <a:xfrm>
            <a:off x="3858768" y="1417320"/>
            <a:ext cx="1828800" cy="274320"/>
          </a:xfrm>
          <a:prstGeom prst="rect">
            <a:avLst/>
          </a:prstGeom>
          <a:noFill/>
          <a:ln/>
        </p:spPr>
        <p:txBody>
          <a:bodyPr wrap="square" lIns="0" tIns="0" rIns="0" bIns="0" rtlCol="0" anchor="ctr"/>
          <a:lstStyle/>
          <a:p>
            <a:pPr marL="0" indent="0">
              <a:buNone/>
            </a:pPr>
            <a:r>
              <a:rPr lang="en-US" sz="1400" b="1" dirty="0">
                <a:solidFill>
                  <a:schemeClr val="tx1"/>
                </a:solidFill>
              </a:rPr>
              <a:t>IN PROGRESS</a:t>
            </a:r>
            <a:endParaRPr lang="en-US" sz="1400" dirty="0"/>
          </a:p>
        </p:txBody>
      </p:sp>
      <p:sp>
        <p:nvSpPr>
          <p:cNvPr id="21" name="Kanban card Physics Internal Exam"/>
          <p:cNvSpPr/>
          <p:nvPr/>
        </p:nvSpPr>
        <p:spPr>
          <a:xfrm>
            <a:off x="3520440" y="187452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22" name="Kanban title Physics Internal Exam"/>
          <p:cNvSpPr txBox="1"/>
          <p:nvPr/>
        </p:nvSpPr>
        <p:spPr>
          <a:xfrm>
            <a:off x="3657600" y="1965960"/>
            <a:ext cx="2057400" cy="256032"/>
          </a:xfrm>
          <a:prstGeom prst="rect">
            <a:avLst/>
          </a:prstGeom>
          <a:noFill/>
          <a:ln/>
        </p:spPr>
        <p:txBody>
          <a:bodyPr wrap="square" lIns="0" tIns="0" rIns="0" bIns="0" rtlCol="0" anchor="t"/>
          <a:lstStyle/>
          <a:p>
            <a:pPr marL="0" indent="0">
              <a:buNone/>
            </a:pPr>
            <a:r>
              <a:rPr lang="en-US" sz="1400" b="1" dirty="0">
                <a:solidFill>
                  <a:schemeClr val="tx1"/>
                </a:solidFill>
              </a:rPr>
              <a:t>Physics Internal Exam</a:t>
            </a:r>
            <a:endParaRPr lang="en-US" sz="1400" dirty="0"/>
          </a:p>
        </p:txBody>
      </p:sp>
      <p:sp>
        <p:nvSpPr>
          <p:cNvPr id="23" name="Chip High"/>
          <p:cNvSpPr/>
          <p:nvPr/>
        </p:nvSpPr>
        <p:spPr>
          <a:xfrm>
            <a:off x="3657600" y="2267712"/>
            <a:ext cx="731520" cy="201168"/>
          </a:xfrm>
          <a:prstGeom prst="roundRect">
            <a:avLst>
              <a:gd name="adj" fmla="val 50000"/>
            </a:avLst>
          </a:prstGeom>
          <a:solidFill>
            <a:srgbClr val="FEE2E2"/>
          </a:solidFill>
          <a:ln/>
        </p:spPr>
      </p:sp>
      <p:sp>
        <p:nvSpPr>
          <p:cNvPr id="24" name="Chip text High"/>
          <p:cNvSpPr txBox="1"/>
          <p:nvPr/>
        </p:nvSpPr>
        <p:spPr>
          <a:xfrm>
            <a:off x="3657600" y="2267712"/>
            <a:ext cx="731520" cy="201168"/>
          </a:xfrm>
          <a:prstGeom prst="rect">
            <a:avLst/>
          </a:prstGeom>
          <a:noFill/>
          <a:ln/>
        </p:spPr>
        <p:txBody>
          <a:bodyPr wrap="square" lIns="0" tIns="0" rIns="0" bIns="0" rtlCol="0" anchor="ctr"/>
          <a:lstStyle/>
          <a:p>
            <a:pPr marL="0" indent="0" algn="ctr">
              <a:buNone/>
            </a:pPr>
            <a:r>
              <a:rPr lang="en-US" sz="1000" b="1" dirty="0">
                <a:solidFill>
                  <a:srgbClr val="B91C1C"/>
                </a:solidFill>
              </a:rPr>
              <a:t>High</a:t>
            </a:r>
            <a:endParaRPr lang="en-US" sz="1000" dirty="0"/>
          </a:p>
        </p:txBody>
      </p:sp>
      <p:sp>
        <p:nvSpPr>
          <p:cNvPr id="25" name="Drop zone"/>
          <p:cNvSpPr/>
          <p:nvPr/>
        </p:nvSpPr>
        <p:spPr>
          <a:xfrm>
            <a:off x="3520440" y="2651760"/>
            <a:ext cx="2286000" cy="685800"/>
          </a:xfrm>
          <a:prstGeom prst="roundRect">
            <a:avLst>
              <a:gd name="adj" fmla="val 18667"/>
            </a:avLst>
          </a:prstGeom>
          <a:ln w="12700">
            <a:solidFill>
              <a:schemeClr val="tx2"/>
            </a:solidFill>
            <a:prstDash val="dash"/>
          </a:ln>
        </p:spPr>
      </p:sp>
      <p:sp>
        <p:nvSpPr>
          <p:cNvPr id="26" name="Drop zone text"/>
          <p:cNvSpPr txBox="1"/>
          <p:nvPr/>
        </p:nvSpPr>
        <p:spPr>
          <a:xfrm>
            <a:off x="3520440" y="2651760"/>
            <a:ext cx="2286000" cy="685800"/>
          </a:xfrm>
          <a:prstGeom prst="rect">
            <a:avLst/>
          </a:prstGeom>
          <a:noFill/>
          <a:ln/>
        </p:spPr>
        <p:txBody>
          <a:bodyPr wrap="square" lIns="0" tIns="0" rIns="0" bIns="0" rtlCol="0" anchor="ctr"/>
          <a:lstStyle/>
          <a:p>
            <a:pPr marL="0" indent="0" algn="ctr">
              <a:buNone/>
            </a:pPr>
            <a:r>
              <a:rPr lang="en-US" sz="1200" i="1" dirty="0">
                <a:solidFill>
                  <a:schemeClr val="tx2"/>
                </a:solidFill>
              </a:rPr>
              <a:t>Drop a task here</a:t>
            </a:r>
            <a:endParaRPr lang="en-US" sz="1200" dirty="0"/>
          </a:p>
        </p:txBody>
      </p:sp>
      <p:sp>
        <p:nvSpPr>
          <p:cNvPr id="27" name="Kanban column COMPLETED"/>
          <p:cNvSpPr/>
          <p:nvPr/>
        </p:nvSpPr>
        <p:spPr>
          <a:xfrm>
            <a:off x="6217920" y="1280160"/>
            <a:ext cx="2560320" cy="3017520"/>
          </a:xfrm>
          <a:prstGeom prst="roundRect">
            <a:avLst>
              <a:gd name="adj" fmla="val 5000"/>
            </a:avLst>
          </a:prstGeom>
          <a:solidFill>
            <a:schemeClr val="bg1">
              <a:alpha val="55000"/>
            </a:schemeClr>
          </a:solidFill>
          <a:ln/>
        </p:spPr>
      </p:sp>
      <p:sp>
        <p:nvSpPr>
          <p:cNvPr id="28" name="Column dot COMPLETED"/>
          <p:cNvSpPr/>
          <p:nvPr/>
        </p:nvSpPr>
        <p:spPr>
          <a:xfrm>
            <a:off x="6446520" y="1481328"/>
            <a:ext cx="146304" cy="146304"/>
          </a:xfrm>
          <a:prstGeom prst="ellipse">
            <a:avLst/>
          </a:prstGeom>
          <a:solidFill>
            <a:schemeClr val="accent4"/>
          </a:solidFill>
          <a:ln/>
        </p:spPr>
      </p:sp>
      <p:sp>
        <p:nvSpPr>
          <p:cNvPr id="29" name="Column title COMPLETED"/>
          <p:cNvSpPr txBox="1"/>
          <p:nvPr/>
        </p:nvSpPr>
        <p:spPr>
          <a:xfrm>
            <a:off x="6693408" y="1417320"/>
            <a:ext cx="1828800" cy="274320"/>
          </a:xfrm>
          <a:prstGeom prst="rect">
            <a:avLst/>
          </a:prstGeom>
          <a:noFill/>
          <a:ln/>
        </p:spPr>
        <p:txBody>
          <a:bodyPr wrap="square" lIns="0" tIns="0" rIns="0" bIns="0" rtlCol="0" anchor="ctr"/>
          <a:lstStyle/>
          <a:p>
            <a:pPr marL="0" indent="0">
              <a:buNone/>
            </a:pPr>
            <a:r>
              <a:rPr lang="en-US" sz="1400" b="1" dirty="0">
                <a:solidFill>
                  <a:schemeClr val="tx1"/>
                </a:solidFill>
              </a:rPr>
              <a:t>COMPLETED</a:t>
            </a:r>
            <a:endParaRPr lang="en-US" sz="1400" dirty="0"/>
          </a:p>
        </p:txBody>
      </p:sp>
      <p:sp>
        <p:nvSpPr>
          <p:cNvPr id="30" name="Kanban card Revise Maths Unit 3"/>
          <p:cNvSpPr/>
          <p:nvPr/>
        </p:nvSpPr>
        <p:spPr>
          <a:xfrm>
            <a:off x="6355080" y="187452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31" name="Kanban title Revise Maths Unit 3"/>
          <p:cNvSpPr txBox="1"/>
          <p:nvPr/>
        </p:nvSpPr>
        <p:spPr>
          <a:xfrm>
            <a:off x="6492240" y="1965960"/>
            <a:ext cx="2057400" cy="256032"/>
          </a:xfrm>
          <a:prstGeom prst="rect">
            <a:avLst/>
          </a:prstGeom>
          <a:noFill/>
          <a:ln/>
        </p:spPr>
        <p:txBody>
          <a:bodyPr wrap="square" lIns="0" tIns="0" rIns="0" bIns="0" rtlCol="0" anchor="t"/>
          <a:lstStyle/>
          <a:p>
            <a:pPr marL="0" indent="0">
              <a:buNone/>
            </a:pPr>
            <a:r>
              <a:rPr lang="en-US" sz="1400" b="1" dirty="0">
                <a:solidFill>
                  <a:schemeClr val="tx1"/>
                </a:solidFill>
              </a:rPr>
              <a:t>Revise Maths Unit 3</a:t>
            </a:r>
            <a:endParaRPr lang="en-US" sz="1400" dirty="0"/>
          </a:p>
        </p:txBody>
      </p:sp>
      <p:sp>
        <p:nvSpPr>
          <p:cNvPr id="32" name="Chip High"/>
          <p:cNvSpPr/>
          <p:nvPr/>
        </p:nvSpPr>
        <p:spPr>
          <a:xfrm>
            <a:off x="6492240" y="2267712"/>
            <a:ext cx="731520" cy="201168"/>
          </a:xfrm>
          <a:prstGeom prst="roundRect">
            <a:avLst>
              <a:gd name="adj" fmla="val 50000"/>
            </a:avLst>
          </a:prstGeom>
          <a:solidFill>
            <a:srgbClr val="FEE2E2"/>
          </a:solidFill>
          <a:ln/>
        </p:spPr>
      </p:sp>
      <p:sp>
        <p:nvSpPr>
          <p:cNvPr id="33" name="Chip text High"/>
          <p:cNvSpPr txBox="1"/>
          <p:nvPr/>
        </p:nvSpPr>
        <p:spPr>
          <a:xfrm>
            <a:off x="6492240" y="2267712"/>
            <a:ext cx="731520" cy="201168"/>
          </a:xfrm>
          <a:prstGeom prst="rect">
            <a:avLst/>
          </a:prstGeom>
          <a:noFill/>
          <a:ln/>
        </p:spPr>
        <p:txBody>
          <a:bodyPr wrap="square" lIns="0" tIns="0" rIns="0" bIns="0" rtlCol="0" anchor="ctr"/>
          <a:lstStyle/>
          <a:p>
            <a:pPr marL="0" indent="0" algn="ctr">
              <a:buNone/>
            </a:pPr>
            <a:r>
              <a:rPr lang="en-US" sz="1000" b="1" dirty="0">
                <a:solidFill>
                  <a:srgbClr val="B91C1C"/>
                </a:solidFill>
              </a:rPr>
              <a:t>High</a:t>
            </a:r>
            <a:endParaRPr lang="en-US" sz="1000" dirty="0"/>
          </a:p>
        </p:txBody>
      </p:sp>
      <p:sp>
        <p:nvSpPr>
          <p:cNvPr id="34" name="Kanban card English Assignment"/>
          <p:cNvSpPr/>
          <p:nvPr/>
        </p:nvSpPr>
        <p:spPr>
          <a:xfrm>
            <a:off x="6355080" y="265176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35" name="Kanban title English Assignment"/>
          <p:cNvSpPr txBox="1"/>
          <p:nvPr/>
        </p:nvSpPr>
        <p:spPr>
          <a:xfrm>
            <a:off x="6492240" y="2743200"/>
            <a:ext cx="2057400" cy="256032"/>
          </a:xfrm>
          <a:prstGeom prst="rect">
            <a:avLst/>
          </a:prstGeom>
          <a:noFill/>
          <a:ln/>
        </p:spPr>
        <p:txBody>
          <a:bodyPr wrap="square" lIns="0" tIns="0" rIns="0" bIns="0" rtlCol="0" anchor="t"/>
          <a:lstStyle/>
          <a:p>
            <a:pPr marL="0" indent="0">
              <a:buNone/>
            </a:pPr>
            <a:r>
              <a:rPr lang="en-US" sz="1400" b="1" dirty="0">
                <a:solidFill>
                  <a:schemeClr val="tx1"/>
                </a:solidFill>
              </a:rPr>
              <a:t>English Assignment</a:t>
            </a:r>
            <a:endParaRPr lang="en-US" sz="1400" dirty="0"/>
          </a:p>
        </p:txBody>
      </p:sp>
      <p:sp>
        <p:nvSpPr>
          <p:cNvPr id="36" name="Chip Medium"/>
          <p:cNvSpPr/>
          <p:nvPr/>
        </p:nvSpPr>
        <p:spPr>
          <a:xfrm>
            <a:off x="6492240" y="3044952"/>
            <a:ext cx="731520" cy="201168"/>
          </a:xfrm>
          <a:prstGeom prst="roundRect">
            <a:avLst>
              <a:gd name="adj" fmla="val 50000"/>
            </a:avLst>
          </a:prstGeom>
          <a:solidFill>
            <a:srgbClr val="FEF3C7"/>
          </a:solidFill>
          <a:ln/>
        </p:spPr>
      </p:sp>
      <p:sp>
        <p:nvSpPr>
          <p:cNvPr id="37" name="Chip text Medium"/>
          <p:cNvSpPr txBox="1"/>
          <p:nvPr/>
        </p:nvSpPr>
        <p:spPr>
          <a:xfrm>
            <a:off x="6492240" y="3044952"/>
            <a:ext cx="731520" cy="201168"/>
          </a:xfrm>
          <a:prstGeom prst="rect">
            <a:avLst/>
          </a:prstGeom>
          <a:noFill/>
          <a:ln/>
        </p:spPr>
        <p:txBody>
          <a:bodyPr wrap="square" lIns="0" tIns="0" rIns="0" bIns="0" rtlCol="0" anchor="ctr"/>
          <a:lstStyle/>
          <a:p>
            <a:pPr marL="0" indent="0" algn="ctr">
              <a:buNone/>
            </a:pPr>
            <a:r>
              <a:rPr lang="en-US" sz="1000" b="1" dirty="0">
                <a:solidFill>
                  <a:srgbClr val="92400E"/>
                </a:solidFill>
              </a:rPr>
              <a:t>Medium</a:t>
            </a:r>
            <a:endParaRPr lang="en-US" sz="1000" dirty="0"/>
          </a:p>
        </p:txBody>
      </p:sp>
      <p:sp>
        <p:nvSpPr>
          <p:cNvPr id="38" name="Kanban card Run 5 km"/>
          <p:cNvSpPr/>
          <p:nvPr/>
        </p:nvSpPr>
        <p:spPr>
          <a:xfrm>
            <a:off x="6355080" y="3429000"/>
            <a:ext cx="2286000" cy="685800"/>
          </a:xfrm>
          <a:prstGeom prst="roundRect">
            <a:avLst>
              <a:gd name="adj" fmla="val 18667"/>
            </a:avLst>
          </a:prstGeom>
          <a:solidFill>
            <a:schemeClr val="bg1"/>
          </a:solidFill>
          <a:ln/>
          <a:effectLst>
            <a:outerShdw blurRad="127000" dist="25400" dir="5400000" algn="bl" rotWithShape="0">
              <a:srgbClr val="4C1D95">
                <a:alpha val="12000"/>
              </a:srgbClr>
            </a:outerShdw>
          </a:effectLst>
        </p:spPr>
      </p:sp>
      <p:sp>
        <p:nvSpPr>
          <p:cNvPr id="39" name="Kanban title Run 5 km"/>
          <p:cNvSpPr txBox="1"/>
          <p:nvPr/>
        </p:nvSpPr>
        <p:spPr>
          <a:xfrm>
            <a:off x="6492240" y="3520440"/>
            <a:ext cx="2057400" cy="256032"/>
          </a:xfrm>
          <a:prstGeom prst="rect">
            <a:avLst/>
          </a:prstGeom>
          <a:noFill/>
          <a:ln/>
        </p:spPr>
        <p:txBody>
          <a:bodyPr wrap="square" lIns="0" tIns="0" rIns="0" bIns="0" rtlCol="0" anchor="t"/>
          <a:lstStyle/>
          <a:p>
            <a:pPr marL="0" indent="0">
              <a:buNone/>
            </a:pPr>
            <a:r>
              <a:rPr lang="en-US" sz="1400" b="1" dirty="0">
                <a:solidFill>
                  <a:schemeClr val="tx1"/>
                </a:solidFill>
              </a:rPr>
              <a:t>Run 5 km</a:t>
            </a:r>
            <a:endParaRPr lang="en-US" sz="1400" dirty="0"/>
          </a:p>
        </p:txBody>
      </p:sp>
      <p:sp>
        <p:nvSpPr>
          <p:cNvPr id="40" name="Chip Low"/>
          <p:cNvSpPr/>
          <p:nvPr/>
        </p:nvSpPr>
        <p:spPr>
          <a:xfrm>
            <a:off x="6492240" y="3822192"/>
            <a:ext cx="731520" cy="201168"/>
          </a:xfrm>
          <a:prstGeom prst="roundRect">
            <a:avLst>
              <a:gd name="adj" fmla="val 50000"/>
            </a:avLst>
          </a:prstGeom>
          <a:solidFill>
            <a:srgbClr val="D1FAE5"/>
          </a:solidFill>
          <a:ln/>
        </p:spPr>
      </p:sp>
      <p:sp>
        <p:nvSpPr>
          <p:cNvPr id="41" name="Chip text Low"/>
          <p:cNvSpPr txBox="1"/>
          <p:nvPr/>
        </p:nvSpPr>
        <p:spPr>
          <a:xfrm>
            <a:off x="6492240" y="3822192"/>
            <a:ext cx="731520" cy="201168"/>
          </a:xfrm>
          <a:prstGeom prst="rect">
            <a:avLst/>
          </a:prstGeom>
          <a:noFill/>
          <a:ln/>
        </p:spPr>
        <p:txBody>
          <a:bodyPr wrap="square" lIns="0" tIns="0" rIns="0" bIns="0" rtlCol="0" anchor="ctr"/>
          <a:lstStyle/>
          <a:p>
            <a:pPr marL="0" indent="0" algn="ctr">
              <a:buNone/>
            </a:pPr>
            <a:r>
              <a:rPr lang="en-US" sz="1000" b="1" dirty="0">
                <a:solidFill>
                  <a:srgbClr val="065F46"/>
                </a:solidFill>
              </a:rPr>
              <a:t>Low</a:t>
            </a:r>
            <a:endParaRPr lang="en-US" sz="1000" dirty="0"/>
          </a:p>
        </p:txBody>
      </p:sp>
      <p:sp>
        <p:nvSpPr>
          <p:cNvPr id="42" name="Kanban caption"/>
          <p:cNvSpPr txBox="1"/>
          <p:nvPr/>
        </p:nvSpPr>
        <p:spPr>
          <a:xfrm>
            <a:off x="548640" y="4407408"/>
            <a:ext cx="8046720" cy="228600"/>
          </a:xfrm>
          <a:prstGeom prst="rect">
            <a:avLst/>
          </a:prstGeom>
          <a:noFill/>
          <a:ln/>
        </p:spPr>
        <p:txBody>
          <a:bodyPr wrap="square" lIns="0" tIns="0" rIns="0" bIns="0" rtlCol="0" anchor="t"/>
          <a:lstStyle/>
          <a:p>
            <a:pPr marL="0" indent="0">
              <a:buNone/>
            </a:pPr>
            <a:r>
              <a:rPr lang="en-US" sz="1200" dirty="0">
                <a:solidFill>
                  <a:schemeClr val="tx2"/>
                </a:solidFill>
              </a:rPr>
              <a:t>Drag a card to another column. On a phone, use the status dropdown on each card.</a:t>
            </a:r>
            <a:endParaRPr lang="en-US" sz="1200" dirty="0"/>
          </a:p>
        </p:txBody>
      </p:sp>
      <p:sp>
        <p:nvSpPr>
          <p:cNvPr id="4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Calendar, analytics, focus</a:t>
            </a:r>
            <a:endParaRPr lang="en-US" sz="3600" dirty="0"/>
          </a:p>
        </p:txBody>
      </p:sp>
      <p:sp>
        <p:nvSpPr>
          <p:cNvPr id="3" name="Icon circle FiCalendar"/>
          <p:cNvSpPr/>
          <p:nvPr/>
        </p:nvSpPr>
        <p:spPr>
          <a:xfrm>
            <a:off x="548640" y="1234440"/>
            <a:ext cx="457200" cy="457200"/>
          </a:xfrm>
          <a:prstGeom prst="ellipse">
            <a:avLst/>
          </a:prstGeom>
          <a:solidFill>
            <a:schemeClr val="accent1"/>
          </a:solidFill>
          <a:ln/>
        </p:spPr>
      </p:sp>
      <p:pic>
        <p:nvPicPr>
          <p:cNvPr id="4" name="Icon FiCalendar" descr="Calendar icon"/>
          <p:cNvPicPr>
            <a:picLocks noChangeAspect="1"/>
          </p:cNvPicPr>
          <p:nvPr/>
        </p:nvPicPr>
        <p:blipFill>
          <a:blip r:embed="rId3"/>
          <a:stretch>
            <a:fillRect/>
          </a:stretch>
        </p:blipFill>
        <p:spPr>
          <a:xfrm>
            <a:off x="662940" y="1348740"/>
            <a:ext cx="228600" cy="228600"/>
          </a:xfrm>
          <a:prstGeom prst="rect">
            <a:avLst/>
          </a:prstGeom>
        </p:spPr>
      </p:pic>
      <p:sp>
        <p:nvSpPr>
          <p:cNvPr id="5" name="Block heading Calendar"/>
          <p:cNvSpPr txBox="1"/>
          <p:nvPr/>
        </p:nvSpPr>
        <p:spPr>
          <a:xfrm>
            <a:off x="1188720" y="12801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Calendar</a:t>
            </a:r>
            <a:endParaRPr lang="en-US" sz="1800" dirty="0"/>
          </a:p>
        </p:txBody>
      </p:sp>
      <p:sp>
        <p:nvSpPr>
          <p:cNvPr id="6" name="Block bullets Calendar"/>
          <p:cNvSpPr txBox="1"/>
          <p:nvPr/>
        </p:nvSpPr>
        <p:spPr>
          <a:xfrm>
            <a:off x="1188720" y="1691640"/>
            <a:ext cx="3108960" cy="5943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Month view, today highlighted</a:t>
            </a:r>
            <a:endParaRPr lang="en-US" sz="1400" dirty="0"/>
          </a:p>
          <a:p>
            <a:pPr marL="342900" indent="-342900">
              <a:spcAft>
                <a:spcPts val="200"/>
              </a:spcAft>
              <a:buSzPct val="100000"/>
              <a:buChar char="•"/>
            </a:pPr>
            <a:r>
              <a:rPr lang="en-US" sz="1400" dirty="0">
                <a:solidFill>
                  <a:schemeClr val="tx1"/>
                </a:solidFill>
              </a:rPr>
              <a:t>Overdue tasks shown in red</a:t>
            </a:r>
            <a:endParaRPr lang="en-US" sz="1400" dirty="0"/>
          </a:p>
        </p:txBody>
      </p:sp>
      <p:sp>
        <p:nvSpPr>
          <p:cNvPr id="7" name="Icon circle FiBarChart2"/>
          <p:cNvSpPr/>
          <p:nvPr/>
        </p:nvSpPr>
        <p:spPr>
          <a:xfrm>
            <a:off x="548640" y="2377440"/>
            <a:ext cx="457200" cy="457200"/>
          </a:xfrm>
          <a:prstGeom prst="ellipse">
            <a:avLst/>
          </a:prstGeom>
          <a:solidFill>
            <a:schemeClr val="accent1"/>
          </a:solidFill>
          <a:ln/>
        </p:spPr>
      </p:sp>
      <p:pic>
        <p:nvPicPr>
          <p:cNvPr id="8" name="Icon FiBarChart2" descr="BarChart2 icon"/>
          <p:cNvPicPr>
            <a:picLocks noChangeAspect="1"/>
          </p:cNvPicPr>
          <p:nvPr/>
        </p:nvPicPr>
        <p:blipFill>
          <a:blip r:embed="rId4"/>
          <a:stretch>
            <a:fillRect/>
          </a:stretch>
        </p:blipFill>
        <p:spPr>
          <a:xfrm>
            <a:off x="662940" y="2491740"/>
            <a:ext cx="228600" cy="228600"/>
          </a:xfrm>
          <a:prstGeom prst="rect">
            <a:avLst/>
          </a:prstGeom>
        </p:spPr>
      </p:pic>
      <p:sp>
        <p:nvSpPr>
          <p:cNvPr id="9" name="Block heading Analytics"/>
          <p:cNvSpPr txBox="1"/>
          <p:nvPr/>
        </p:nvSpPr>
        <p:spPr>
          <a:xfrm>
            <a:off x="1188720" y="24231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Analytics</a:t>
            </a:r>
            <a:endParaRPr lang="en-US" sz="1800" dirty="0"/>
          </a:p>
        </p:txBody>
      </p:sp>
      <p:sp>
        <p:nvSpPr>
          <p:cNvPr id="10" name="Block bullets Analytics"/>
          <p:cNvSpPr txBox="1"/>
          <p:nvPr/>
        </p:nvSpPr>
        <p:spPr>
          <a:xfrm>
            <a:off x="1188720" y="2834640"/>
            <a:ext cx="3108960" cy="5943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Completion % and tasks by category</a:t>
            </a:r>
            <a:endParaRPr lang="en-US" sz="1400" dirty="0"/>
          </a:p>
          <a:p>
            <a:pPr marL="342900" indent="-342900">
              <a:spcAft>
                <a:spcPts val="200"/>
              </a:spcAft>
              <a:buSzPct val="100000"/>
              <a:buChar char="•"/>
            </a:pPr>
            <a:r>
              <a:rPr lang="en-US" sz="1400" dirty="0">
                <a:solidFill>
                  <a:schemeClr val="tx1"/>
                </a:solidFill>
              </a:rPr>
              <a:t>Bar chart of the last 7 days</a:t>
            </a:r>
            <a:endParaRPr lang="en-US" sz="1400" dirty="0"/>
          </a:p>
        </p:txBody>
      </p:sp>
      <p:sp>
        <p:nvSpPr>
          <p:cNvPr id="11" name="Icon circle FiClock"/>
          <p:cNvSpPr/>
          <p:nvPr/>
        </p:nvSpPr>
        <p:spPr>
          <a:xfrm>
            <a:off x="548640" y="3520440"/>
            <a:ext cx="457200" cy="457200"/>
          </a:xfrm>
          <a:prstGeom prst="ellipse">
            <a:avLst/>
          </a:prstGeom>
          <a:solidFill>
            <a:schemeClr val="accent1"/>
          </a:solidFill>
          <a:ln/>
        </p:spPr>
      </p:sp>
      <p:pic>
        <p:nvPicPr>
          <p:cNvPr id="12" name="Icon FiClock" descr="Clock icon"/>
          <p:cNvPicPr>
            <a:picLocks noChangeAspect="1"/>
          </p:cNvPicPr>
          <p:nvPr/>
        </p:nvPicPr>
        <p:blipFill>
          <a:blip r:embed="rId5"/>
          <a:stretch>
            <a:fillRect/>
          </a:stretch>
        </p:blipFill>
        <p:spPr>
          <a:xfrm>
            <a:off x="662940" y="3634740"/>
            <a:ext cx="228600" cy="228600"/>
          </a:xfrm>
          <a:prstGeom prst="rect">
            <a:avLst/>
          </a:prstGeom>
        </p:spPr>
      </p:pic>
      <p:sp>
        <p:nvSpPr>
          <p:cNvPr id="13" name="Block heading Focus Timer"/>
          <p:cNvSpPr txBox="1"/>
          <p:nvPr/>
        </p:nvSpPr>
        <p:spPr>
          <a:xfrm>
            <a:off x="1188720" y="35661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Focus Timer</a:t>
            </a:r>
            <a:endParaRPr lang="en-US" sz="1800" dirty="0"/>
          </a:p>
        </p:txBody>
      </p:sp>
      <p:sp>
        <p:nvSpPr>
          <p:cNvPr id="14" name="Block bullets Focus Timer"/>
          <p:cNvSpPr txBox="1"/>
          <p:nvPr/>
        </p:nvSpPr>
        <p:spPr>
          <a:xfrm>
            <a:off x="1188720" y="3977640"/>
            <a:ext cx="3108960" cy="5943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25, 5 and 15 minute modes</a:t>
            </a:r>
            <a:endParaRPr lang="en-US" sz="1400" dirty="0"/>
          </a:p>
          <a:p>
            <a:pPr marL="342900" indent="-342900">
              <a:spcAft>
                <a:spcPts val="200"/>
              </a:spcAft>
              <a:buSzPct val="100000"/>
              <a:buChar char="•"/>
            </a:pPr>
            <a:r>
              <a:rPr lang="en-US" sz="1400" dirty="0">
                <a:solidFill>
                  <a:schemeClr val="tx1"/>
                </a:solidFill>
              </a:rPr>
              <a:t>Pick the task you are working on</a:t>
            </a:r>
            <a:endParaRPr lang="en-US" sz="1400" dirty="0"/>
          </a:p>
        </p:txBody>
      </p:sp>
      <p:sp>
        <p:nvSpPr>
          <p:cNvPr id="15" name="Chart card"/>
          <p:cNvSpPr/>
          <p:nvPr/>
        </p:nvSpPr>
        <p:spPr>
          <a:xfrm>
            <a:off x="4480560" y="1280160"/>
            <a:ext cx="4114800" cy="3291840"/>
          </a:xfrm>
          <a:prstGeom prst="roundRect">
            <a:avLst>
              <a:gd name="adj" fmla="val 3889"/>
            </a:avLst>
          </a:prstGeom>
          <a:solidFill>
            <a:schemeClr val="bg1"/>
          </a:solidFill>
          <a:ln/>
          <a:effectLst>
            <a:outerShdw blurRad="127000" dist="25400" dir="5400000" algn="bl" rotWithShape="0">
              <a:srgbClr val="4C1D95">
                <a:alpha val="12000"/>
              </a:srgbClr>
            </a:outerShdw>
          </a:effectLst>
        </p:spPr>
      </p:sp>
      <p:sp>
        <p:nvSpPr>
          <p:cNvPr id="16" name="Completion number"/>
          <p:cNvSpPr txBox="1"/>
          <p:nvPr/>
        </p:nvSpPr>
        <p:spPr>
          <a:xfrm>
            <a:off x="4754880" y="1417320"/>
            <a:ext cx="1280160" cy="548640"/>
          </a:xfrm>
          <a:prstGeom prst="rect">
            <a:avLst/>
          </a:prstGeom>
          <a:noFill/>
          <a:ln/>
        </p:spPr>
        <p:txBody>
          <a:bodyPr wrap="square" lIns="0" tIns="0" rIns="0" bIns="0" rtlCol="0" anchor="ctr"/>
          <a:lstStyle/>
          <a:p>
            <a:pPr marL="0" indent="0">
              <a:buNone/>
            </a:pPr>
            <a:r>
              <a:rPr lang="en-US" sz="3600" b="1" dirty="0">
                <a:solidFill>
                  <a:schemeClr val="accent1"/>
                </a:solidFill>
              </a:rPr>
              <a:t>33%</a:t>
            </a:r>
            <a:endParaRPr lang="en-US" sz="3600" dirty="0"/>
          </a:p>
        </p:txBody>
      </p:sp>
      <p:sp>
        <p:nvSpPr>
          <p:cNvPr id="17" name="Completion caption"/>
          <p:cNvSpPr txBox="1"/>
          <p:nvPr/>
        </p:nvSpPr>
        <p:spPr>
          <a:xfrm>
            <a:off x="6035040" y="1417320"/>
            <a:ext cx="2377440" cy="548640"/>
          </a:xfrm>
          <a:prstGeom prst="rect">
            <a:avLst/>
          </a:prstGeom>
          <a:noFill/>
          <a:ln/>
        </p:spPr>
        <p:txBody>
          <a:bodyPr wrap="square" lIns="0" tIns="0" rIns="0" bIns="0" rtlCol="0" anchor="ctr"/>
          <a:lstStyle/>
          <a:p>
            <a:pPr marL="0" indent="0">
              <a:buNone/>
            </a:pPr>
            <a:r>
              <a:rPr lang="en-US" sz="1400" dirty="0">
                <a:solidFill>
                  <a:schemeClr val="tx2"/>
                </a:solidFill>
              </a:rPr>
              <a:t>of sample tasks completed</a:t>
            </a:r>
            <a:endParaRPr lang="en-US" sz="1400" dirty="0"/>
          </a:p>
        </p:txBody>
      </p:sp>
      <p:sp>
        <p:nvSpPr>
          <p:cNvPr id="18" name="Chart heading"/>
          <p:cNvSpPr txBox="1"/>
          <p:nvPr/>
        </p:nvSpPr>
        <p:spPr>
          <a:xfrm>
            <a:off x="4754880" y="2148840"/>
            <a:ext cx="3566160" cy="274320"/>
          </a:xfrm>
          <a:prstGeom prst="rect">
            <a:avLst/>
          </a:prstGeom>
          <a:noFill/>
          <a:ln/>
        </p:spPr>
        <p:txBody>
          <a:bodyPr wrap="square" lIns="0" tIns="0" rIns="0" bIns="0" rtlCol="0" anchor="t"/>
          <a:lstStyle/>
          <a:p>
            <a:pPr marL="0" indent="0">
              <a:buNone/>
            </a:pPr>
            <a:r>
              <a:rPr lang="en-US" sz="1400" b="1" dirty="0">
                <a:solidFill>
                  <a:schemeClr val="tx1"/>
                </a:solidFill>
              </a:rPr>
              <a:t>Tasks by category (sample data)</a:t>
            </a:r>
            <a:endParaRPr lang="en-US" sz="1400" dirty="0"/>
          </a:p>
        </p:txBody>
      </p:sp>
      <p:graphicFrame>
        <p:nvGraphicFramePr>
          <p:cNvPr id="19" name="Chart 0"/>
          <p:cNvGraphicFramePr/>
          <p:nvPr/>
        </p:nvGraphicFramePr>
        <p:xfrm>
          <a:off x="4663440" y="2468880"/>
          <a:ext cx="3749040" cy="1965960"/>
        </p:xfrm>
        <a:graphic>
          <a:graphicData uri="http://schemas.openxmlformats.org/drawingml/2006/chart">
            <c:chart xmlns:c="http://schemas.openxmlformats.org/drawingml/2006/chart" xmlns:r="http://schemas.openxmlformats.org/officeDocument/2006/relationships" r:id="rId6"/>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Testing and test results</a:t>
            </a:r>
            <a:endParaRPr lang="en-US" sz="3600" dirty="0"/>
          </a:p>
        </p:txBody>
      </p:sp>
      <p:sp>
        <p:nvSpPr>
          <p:cNvPr id="3" name="Test cases card"/>
          <p:cNvSpPr/>
          <p:nvPr/>
        </p:nvSpPr>
        <p:spPr>
          <a:xfrm>
            <a:off x="548640" y="1234440"/>
            <a:ext cx="3931920" cy="3337560"/>
          </a:xfrm>
          <a:prstGeom prst="roundRect">
            <a:avLst>
              <a:gd name="adj" fmla="val 3836"/>
            </a:avLst>
          </a:prstGeom>
          <a:solidFill>
            <a:schemeClr val="bg1"/>
          </a:solidFill>
          <a:ln/>
          <a:effectLst>
            <a:outerShdw blurRad="127000" dist="25400" dir="5400000" algn="bl" rotWithShape="0">
              <a:srgbClr val="4C1D95">
                <a:alpha val="12000"/>
              </a:srgbClr>
            </a:outerShdw>
          </a:effectLst>
        </p:spPr>
      </p:sp>
      <p:sp>
        <p:nvSpPr>
          <p:cNvPr id="4" name="Icon circle FiClipboard"/>
          <p:cNvSpPr/>
          <p:nvPr/>
        </p:nvSpPr>
        <p:spPr>
          <a:xfrm>
            <a:off x="777240" y="1463040"/>
            <a:ext cx="457200" cy="457200"/>
          </a:xfrm>
          <a:prstGeom prst="ellipse">
            <a:avLst/>
          </a:prstGeom>
          <a:solidFill>
            <a:schemeClr val="accent1"/>
          </a:solidFill>
          <a:ln/>
        </p:spPr>
      </p:sp>
      <p:pic>
        <p:nvPicPr>
          <p:cNvPr id="5" name="Icon FiClipboard" descr="Clipboard icon"/>
          <p:cNvPicPr>
            <a:picLocks noChangeAspect="1"/>
          </p:cNvPicPr>
          <p:nvPr/>
        </p:nvPicPr>
        <p:blipFill>
          <a:blip r:embed="rId3"/>
          <a:stretch>
            <a:fillRect/>
          </a:stretch>
        </p:blipFill>
        <p:spPr>
          <a:xfrm>
            <a:off x="891540" y="1577340"/>
            <a:ext cx="228600" cy="228600"/>
          </a:xfrm>
          <a:prstGeom prst="rect">
            <a:avLst/>
          </a:prstGeom>
        </p:spPr>
      </p:pic>
      <p:sp>
        <p:nvSpPr>
          <p:cNvPr id="6" name="Test cases heading"/>
          <p:cNvSpPr txBox="1"/>
          <p:nvPr/>
        </p:nvSpPr>
        <p:spPr>
          <a:xfrm>
            <a:off x="1417320" y="1463040"/>
            <a:ext cx="2743200" cy="457200"/>
          </a:xfrm>
          <a:prstGeom prst="rect">
            <a:avLst/>
          </a:prstGeom>
          <a:noFill/>
          <a:ln/>
        </p:spPr>
        <p:txBody>
          <a:bodyPr wrap="square" lIns="0" tIns="0" rIns="0" bIns="0" rtlCol="0" anchor="ctr"/>
          <a:lstStyle/>
          <a:p>
            <a:pPr marL="0" indent="0">
              <a:buNone/>
            </a:pPr>
            <a:r>
              <a:rPr lang="en-US" sz="1800" b="1" dirty="0">
                <a:solidFill>
                  <a:schemeClr val="tx1"/>
                </a:solidFill>
              </a:rPr>
              <a:t>Test cases</a:t>
            </a:r>
            <a:endParaRPr lang="en-US" sz="1800" dirty="0"/>
          </a:p>
        </p:txBody>
      </p:sp>
      <p:sp>
        <p:nvSpPr>
          <p:cNvPr id="7" name="Test bullet circle 1"/>
          <p:cNvSpPr/>
          <p:nvPr/>
        </p:nvSpPr>
        <p:spPr>
          <a:xfrm>
            <a:off x="777240" y="2194560"/>
            <a:ext cx="365760" cy="365760"/>
          </a:xfrm>
          <a:prstGeom prst="ellipse">
            <a:avLst/>
          </a:prstGeom>
          <a:solidFill>
            <a:schemeClr val="bg2"/>
          </a:solidFill>
          <a:ln/>
        </p:spPr>
      </p:sp>
      <p:pic>
        <p:nvPicPr>
          <p:cNvPr id="8" name="Icon FiCheck" descr="Check icon"/>
          <p:cNvPicPr>
            <a:picLocks noChangeAspect="1"/>
          </p:cNvPicPr>
          <p:nvPr/>
        </p:nvPicPr>
        <p:blipFill>
          <a:blip r:embed="rId4"/>
          <a:stretch>
            <a:fillRect/>
          </a:stretch>
        </p:blipFill>
        <p:spPr>
          <a:xfrm>
            <a:off x="850392" y="2267712"/>
            <a:ext cx="219456" cy="219456"/>
          </a:xfrm>
          <a:prstGeom prst="rect">
            <a:avLst/>
          </a:prstGeom>
        </p:spPr>
      </p:pic>
      <p:sp>
        <p:nvSpPr>
          <p:cNvPr id="9" name="Test case 1"/>
          <p:cNvSpPr txBox="1"/>
          <p:nvPr/>
        </p:nvSpPr>
        <p:spPr>
          <a:xfrm>
            <a:off x="1325880" y="2194560"/>
            <a:ext cx="2926080" cy="365760"/>
          </a:xfrm>
          <a:prstGeom prst="rect">
            <a:avLst/>
          </a:prstGeom>
          <a:noFill/>
          <a:ln/>
        </p:spPr>
        <p:txBody>
          <a:bodyPr wrap="square" lIns="0" tIns="0" rIns="0" bIns="0" rtlCol="0" anchor="ctr"/>
          <a:lstStyle/>
          <a:p>
            <a:pPr marL="0" indent="0">
              <a:buNone/>
            </a:pPr>
            <a:r>
              <a:rPr lang="en-US" sz="1500" dirty="0">
                <a:solidFill>
                  <a:schemeClr val="tx1"/>
                </a:solidFill>
              </a:rPr>
              <a:t>Verify task creation</a:t>
            </a:r>
            <a:endParaRPr lang="en-US" sz="1500" dirty="0"/>
          </a:p>
        </p:txBody>
      </p:sp>
      <p:sp>
        <p:nvSpPr>
          <p:cNvPr id="10" name="Test bullet circle 2"/>
          <p:cNvSpPr/>
          <p:nvPr/>
        </p:nvSpPr>
        <p:spPr>
          <a:xfrm>
            <a:off x="777240" y="2761488"/>
            <a:ext cx="365760" cy="365760"/>
          </a:xfrm>
          <a:prstGeom prst="ellipse">
            <a:avLst/>
          </a:prstGeom>
          <a:solidFill>
            <a:schemeClr val="bg2"/>
          </a:solidFill>
          <a:ln/>
        </p:spPr>
      </p:sp>
      <p:pic>
        <p:nvPicPr>
          <p:cNvPr id="11" name="Icon FiCheck" descr="Check icon"/>
          <p:cNvPicPr>
            <a:picLocks noChangeAspect="1"/>
          </p:cNvPicPr>
          <p:nvPr/>
        </p:nvPicPr>
        <p:blipFill>
          <a:blip r:embed="rId4"/>
          <a:stretch>
            <a:fillRect/>
          </a:stretch>
        </p:blipFill>
        <p:spPr>
          <a:xfrm>
            <a:off x="850392" y="2834640"/>
            <a:ext cx="219456" cy="219456"/>
          </a:xfrm>
          <a:prstGeom prst="rect">
            <a:avLst/>
          </a:prstGeom>
        </p:spPr>
      </p:pic>
      <p:sp>
        <p:nvSpPr>
          <p:cNvPr id="12" name="Test case 2"/>
          <p:cNvSpPr txBox="1"/>
          <p:nvPr/>
        </p:nvSpPr>
        <p:spPr>
          <a:xfrm>
            <a:off x="1325880" y="2761488"/>
            <a:ext cx="2926080" cy="365760"/>
          </a:xfrm>
          <a:prstGeom prst="rect">
            <a:avLst/>
          </a:prstGeom>
          <a:noFill/>
          <a:ln/>
        </p:spPr>
        <p:txBody>
          <a:bodyPr wrap="square" lIns="0" tIns="0" rIns="0" bIns="0" rtlCol="0" anchor="ctr"/>
          <a:lstStyle/>
          <a:p>
            <a:pPr marL="0" indent="0">
              <a:buNone/>
            </a:pPr>
            <a:r>
              <a:rPr lang="en-US" sz="1500" dirty="0">
                <a:solidFill>
                  <a:schemeClr val="tx1"/>
                </a:solidFill>
              </a:rPr>
              <a:t>Verify task list display</a:t>
            </a:r>
            <a:endParaRPr lang="en-US" sz="1500" dirty="0"/>
          </a:p>
        </p:txBody>
      </p:sp>
      <p:sp>
        <p:nvSpPr>
          <p:cNvPr id="13" name="Test bullet circle 3"/>
          <p:cNvSpPr/>
          <p:nvPr/>
        </p:nvSpPr>
        <p:spPr>
          <a:xfrm>
            <a:off x="777240" y="3328416"/>
            <a:ext cx="365760" cy="365760"/>
          </a:xfrm>
          <a:prstGeom prst="ellipse">
            <a:avLst/>
          </a:prstGeom>
          <a:solidFill>
            <a:schemeClr val="bg2"/>
          </a:solidFill>
          <a:ln/>
        </p:spPr>
      </p:sp>
      <p:pic>
        <p:nvPicPr>
          <p:cNvPr id="14" name="Icon FiCheck" descr="Check icon"/>
          <p:cNvPicPr>
            <a:picLocks noChangeAspect="1"/>
          </p:cNvPicPr>
          <p:nvPr/>
        </p:nvPicPr>
        <p:blipFill>
          <a:blip r:embed="rId4"/>
          <a:stretch>
            <a:fillRect/>
          </a:stretch>
        </p:blipFill>
        <p:spPr>
          <a:xfrm>
            <a:off x="850392" y="3401568"/>
            <a:ext cx="219456" cy="219456"/>
          </a:xfrm>
          <a:prstGeom prst="rect">
            <a:avLst/>
          </a:prstGeom>
        </p:spPr>
      </p:pic>
      <p:sp>
        <p:nvSpPr>
          <p:cNvPr id="15" name="Test case 3"/>
          <p:cNvSpPr txBox="1"/>
          <p:nvPr/>
        </p:nvSpPr>
        <p:spPr>
          <a:xfrm>
            <a:off x="1325880" y="3328416"/>
            <a:ext cx="2926080" cy="365760"/>
          </a:xfrm>
          <a:prstGeom prst="rect">
            <a:avLst/>
          </a:prstGeom>
          <a:noFill/>
          <a:ln/>
        </p:spPr>
        <p:txBody>
          <a:bodyPr wrap="square" lIns="0" tIns="0" rIns="0" bIns="0" rtlCol="0" anchor="ctr"/>
          <a:lstStyle/>
          <a:p>
            <a:pPr marL="0" indent="0">
              <a:buNone/>
            </a:pPr>
            <a:r>
              <a:rPr lang="en-US" sz="1500" dirty="0">
                <a:solidFill>
                  <a:schemeClr val="tx1"/>
                </a:solidFill>
              </a:rPr>
              <a:t>Verify task status updates</a:t>
            </a:r>
            <a:endParaRPr lang="en-US" sz="1500" dirty="0"/>
          </a:p>
        </p:txBody>
      </p:sp>
      <p:sp>
        <p:nvSpPr>
          <p:cNvPr id="16" name="Test bullet circle 4"/>
          <p:cNvSpPr/>
          <p:nvPr/>
        </p:nvSpPr>
        <p:spPr>
          <a:xfrm>
            <a:off x="777240" y="3895344"/>
            <a:ext cx="365760" cy="365760"/>
          </a:xfrm>
          <a:prstGeom prst="ellipse">
            <a:avLst/>
          </a:prstGeom>
          <a:solidFill>
            <a:schemeClr val="bg2"/>
          </a:solidFill>
          <a:ln/>
        </p:spPr>
      </p:sp>
      <p:pic>
        <p:nvPicPr>
          <p:cNvPr id="17" name="Icon FiCheck" descr="Check icon"/>
          <p:cNvPicPr>
            <a:picLocks noChangeAspect="1"/>
          </p:cNvPicPr>
          <p:nvPr/>
        </p:nvPicPr>
        <p:blipFill>
          <a:blip r:embed="rId4"/>
          <a:stretch>
            <a:fillRect/>
          </a:stretch>
        </p:blipFill>
        <p:spPr>
          <a:xfrm>
            <a:off x="850392" y="3968496"/>
            <a:ext cx="219456" cy="219456"/>
          </a:xfrm>
          <a:prstGeom prst="rect">
            <a:avLst/>
          </a:prstGeom>
        </p:spPr>
      </p:pic>
      <p:sp>
        <p:nvSpPr>
          <p:cNvPr id="18" name="Test case 4"/>
          <p:cNvSpPr txBox="1"/>
          <p:nvPr/>
        </p:nvSpPr>
        <p:spPr>
          <a:xfrm>
            <a:off x="1325880" y="3895344"/>
            <a:ext cx="2926080" cy="365760"/>
          </a:xfrm>
          <a:prstGeom prst="rect">
            <a:avLst/>
          </a:prstGeom>
          <a:noFill/>
          <a:ln/>
        </p:spPr>
        <p:txBody>
          <a:bodyPr wrap="square" lIns="0" tIns="0" rIns="0" bIns="0" rtlCol="0" anchor="ctr"/>
          <a:lstStyle/>
          <a:p>
            <a:pPr marL="0" indent="0">
              <a:buNone/>
            </a:pPr>
            <a:r>
              <a:rPr lang="en-US" sz="1500" dirty="0">
                <a:solidFill>
                  <a:schemeClr val="tx1"/>
                </a:solidFill>
              </a:rPr>
              <a:t>Verify deadline setting</a:t>
            </a:r>
            <a:endParaRPr lang="en-US" sz="1500" dirty="0"/>
          </a:p>
        </p:txBody>
      </p:sp>
      <p:sp>
        <p:nvSpPr>
          <p:cNvPr id="19" name="Testing card Test results"/>
          <p:cNvSpPr/>
          <p:nvPr/>
        </p:nvSpPr>
        <p:spPr>
          <a:xfrm>
            <a:off x="4663440" y="1234440"/>
            <a:ext cx="3931920" cy="1051560"/>
          </a:xfrm>
          <a:prstGeom prst="roundRect">
            <a:avLst>
              <a:gd name="adj" fmla="val 12174"/>
            </a:avLst>
          </a:prstGeom>
          <a:solidFill>
            <a:schemeClr val="bg1"/>
          </a:solidFill>
          <a:ln/>
          <a:effectLst>
            <a:outerShdw blurRad="127000" dist="25400" dir="5400000" algn="bl" rotWithShape="0">
              <a:srgbClr val="4C1D95">
                <a:alpha val="12000"/>
              </a:srgbClr>
            </a:outerShdw>
          </a:effectLst>
        </p:spPr>
      </p:sp>
      <p:sp>
        <p:nvSpPr>
          <p:cNvPr id="20" name="Icon circle FiCheckSquare"/>
          <p:cNvSpPr/>
          <p:nvPr/>
        </p:nvSpPr>
        <p:spPr>
          <a:xfrm>
            <a:off x="4846320" y="1371600"/>
            <a:ext cx="411480" cy="411480"/>
          </a:xfrm>
          <a:prstGeom prst="ellipse">
            <a:avLst/>
          </a:prstGeom>
          <a:solidFill>
            <a:schemeClr val="accent1"/>
          </a:solidFill>
          <a:ln/>
        </p:spPr>
      </p:sp>
      <p:pic>
        <p:nvPicPr>
          <p:cNvPr id="21" name="Icon FiCheckSquare" descr="CheckSquare icon"/>
          <p:cNvPicPr>
            <a:picLocks noChangeAspect="1"/>
          </p:cNvPicPr>
          <p:nvPr/>
        </p:nvPicPr>
        <p:blipFill>
          <a:blip r:embed="rId5"/>
          <a:stretch>
            <a:fillRect/>
          </a:stretch>
        </p:blipFill>
        <p:spPr>
          <a:xfrm>
            <a:off x="4949190" y="1474470"/>
            <a:ext cx="205740" cy="205740"/>
          </a:xfrm>
          <a:prstGeom prst="rect">
            <a:avLst/>
          </a:prstGeom>
        </p:spPr>
      </p:pic>
      <p:sp>
        <p:nvSpPr>
          <p:cNvPr id="22" name="Testing heading Test results"/>
          <p:cNvSpPr txBox="1"/>
          <p:nvPr/>
        </p:nvSpPr>
        <p:spPr>
          <a:xfrm>
            <a:off x="5440680" y="1344168"/>
            <a:ext cx="3017520" cy="274320"/>
          </a:xfrm>
          <a:prstGeom prst="rect">
            <a:avLst/>
          </a:prstGeom>
          <a:noFill/>
          <a:ln/>
        </p:spPr>
        <p:txBody>
          <a:bodyPr wrap="square" lIns="0" tIns="0" rIns="0" bIns="0" rtlCol="0" anchor="t"/>
          <a:lstStyle/>
          <a:p>
            <a:pPr marL="0" indent="0">
              <a:buNone/>
            </a:pPr>
            <a:r>
              <a:rPr lang="en-US" sz="1600" b="1" dirty="0">
                <a:solidFill>
                  <a:schemeClr val="tx1"/>
                </a:solidFill>
              </a:rPr>
              <a:t>Test results</a:t>
            </a:r>
            <a:endParaRPr lang="en-US" sz="1600" dirty="0"/>
          </a:p>
        </p:txBody>
      </p:sp>
      <p:sp>
        <p:nvSpPr>
          <p:cNvPr id="23" name="Testing text Test results"/>
          <p:cNvSpPr txBox="1"/>
          <p:nvPr/>
        </p:nvSpPr>
        <p:spPr>
          <a:xfrm>
            <a:off x="5440680" y="1664208"/>
            <a:ext cx="3017520" cy="502920"/>
          </a:xfrm>
          <a:prstGeom prst="rect">
            <a:avLst/>
          </a:prstGeom>
          <a:noFill/>
          <a:ln/>
        </p:spPr>
        <p:txBody>
          <a:bodyPr wrap="square" lIns="0" tIns="0" rIns="0" bIns="0" rtlCol="0" anchor="t"/>
          <a:lstStyle/>
          <a:p>
            <a:pPr marL="0" indent="0">
              <a:buNone/>
            </a:pPr>
            <a:r>
              <a:rPr lang="en-US" sz="1400" dirty="0">
                <a:solidFill>
                  <a:schemeClr val="tx2"/>
                </a:solidFill>
              </a:rPr>
              <a:t>Record expected and actual results</a:t>
            </a:r>
            <a:endParaRPr lang="en-US" sz="1400" dirty="0"/>
          </a:p>
          <a:p>
            <a:pPr marL="0" indent="0">
              <a:buNone/>
            </a:pPr>
            <a:r>
              <a:rPr lang="en-US" sz="1400" dirty="0">
                <a:solidFill>
                  <a:schemeClr val="tx2"/>
                </a:solidFill>
              </a:rPr>
              <a:t>Mark each test Pass or Fail</a:t>
            </a:r>
            <a:endParaRPr lang="en-US" sz="1400" dirty="0"/>
          </a:p>
        </p:txBody>
      </p:sp>
      <p:sp>
        <p:nvSpPr>
          <p:cNvPr id="24" name="Testing card Bug reporting"/>
          <p:cNvSpPr/>
          <p:nvPr/>
        </p:nvSpPr>
        <p:spPr>
          <a:xfrm>
            <a:off x="4663440" y="2377440"/>
            <a:ext cx="3931920" cy="1051560"/>
          </a:xfrm>
          <a:prstGeom prst="roundRect">
            <a:avLst>
              <a:gd name="adj" fmla="val 12174"/>
            </a:avLst>
          </a:prstGeom>
          <a:solidFill>
            <a:schemeClr val="bg1"/>
          </a:solidFill>
          <a:ln/>
          <a:effectLst>
            <a:outerShdw blurRad="127000" dist="25400" dir="5400000" algn="bl" rotWithShape="0">
              <a:srgbClr val="4C1D95">
                <a:alpha val="12000"/>
              </a:srgbClr>
            </a:outerShdw>
          </a:effectLst>
        </p:spPr>
      </p:sp>
      <p:sp>
        <p:nvSpPr>
          <p:cNvPr id="25" name="Icon circle FiAlertCircle"/>
          <p:cNvSpPr/>
          <p:nvPr/>
        </p:nvSpPr>
        <p:spPr>
          <a:xfrm>
            <a:off x="4846320" y="2514600"/>
            <a:ext cx="411480" cy="411480"/>
          </a:xfrm>
          <a:prstGeom prst="ellipse">
            <a:avLst/>
          </a:prstGeom>
          <a:solidFill>
            <a:schemeClr val="accent1"/>
          </a:solidFill>
          <a:ln/>
        </p:spPr>
      </p:sp>
      <p:pic>
        <p:nvPicPr>
          <p:cNvPr id="26" name="Icon FiAlertCircle" descr="AlertCircle icon"/>
          <p:cNvPicPr>
            <a:picLocks noChangeAspect="1"/>
          </p:cNvPicPr>
          <p:nvPr/>
        </p:nvPicPr>
        <p:blipFill>
          <a:blip r:embed="rId6"/>
          <a:stretch>
            <a:fillRect/>
          </a:stretch>
        </p:blipFill>
        <p:spPr>
          <a:xfrm>
            <a:off x="4949190" y="2617470"/>
            <a:ext cx="205740" cy="205740"/>
          </a:xfrm>
          <a:prstGeom prst="rect">
            <a:avLst/>
          </a:prstGeom>
        </p:spPr>
      </p:pic>
      <p:sp>
        <p:nvSpPr>
          <p:cNvPr id="27" name="Testing heading Bug reporting"/>
          <p:cNvSpPr txBox="1"/>
          <p:nvPr/>
        </p:nvSpPr>
        <p:spPr>
          <a:xfrm>
            <a:off x="5440680" y="2487168"/>
            <a:ext cx="3017520" cy="274320"/>
          </a:xfrm>
          <a:prstGeom prst="rect">
            <a:avLst/>
          </a:prstGeom>
          <a:noFill/>
          <a:ln/>
        </p:spPr>
        <p:txBody>
          <a:bodyPr wrap="square" lIns="0" tIns="0" rIns="0" bIns="0" rtlCol="0" anchor="t"/>
          <a:lstStyle/>
          <a:p>
            <a:pPr marL="0" indent="0">
              <a:buNone/>
            </a:pPr>
            <a:r>
              <a:rPr lang="en-US" sz="1600" b="1" dirty="0">
                <a:solidFill>
                  <a:schemeClr val="tx1"/>
                </a:solidFill>
              </a:rPr>
              <a:t>Bug reporting</a:t>
            </a:r>
            <a:endParaRPr lang="en-US" sz="1600" dirty="0"/>
          </a:p>
        </p:txBody>
      </p:sp>
      <p:sp>
        <p:nvSpPr>
          <p:cNvPr id="28" name="Testing text Bug reporting"/>
          <p:cNvSpPr txBox="1"/>
          <p:nvPr/>
        </p:nvSpPr>
        <p:spPr>
          <a:xfrm>
            <a:off x="5440680" y="2807208"/>
            <a:ext cx="3017520" cy="502920"/>
          </a:xfrm>
          <a:prstGeom prst="rect">
            <a:avLst/>
          </a:prstGeom>
          <a:noFill/>
          <a:ln/>
        </p:spPr>
        <p:txBody>
          <a:bodyPr wrap="square" lIns="0" tIns="0" rIns="0" bIns="0" rtlCol="0" anchor="t"/>
          <a:lstStyle/>
          <a:p>
            <a:pPr marL="0" indent="0">
              <a:buNone/>
            </a:pPr>
            <a:r>
              <a:rPr lang="en-US" sz="1400" dirty="0">
                <a:solidFill>
                  <a:schemeClr val="tx2"/>
                </a:solidFill>
              </a:rPr>
              <a:t>Document errors found in testing</a:t>
            </a:r>
            <a:endParaRPr lang="en-US" sz="1400" dirty="0"/>
          </a:p>
          <a:p>
            <a:pPr marL="0" indent="0">
              <a:buNone/>
            </a:pPr>
            <a:r>
              <a:rPr lang="en-US" sz="1400" dirty="0">
                <a:solidFill>
                  <a:schemeClr val="tx2"/>
                </a:solidFill>
              </a:rPr>
              <a:t>Note untested or missing features</a:t>
            </a:r>
            <a:endParaRPr lang="en-US" sz="1400" dirty="0"/>
          </a:p>
        </p:txBody>
      </p:sp>
      <p:sp>
        <p:nvSpPr>
          <p:cNvPr id="29" name="Testing card Testing documentation"/>
          <p:cNvSpPr/>
          <p:nvPr/>
        </p:nvSpPr>
        <p:spPr>
          <a:xfrm>
            <a:off x="4663440" y="3520440"/>
            <a:ext cx="3931920" cy="1051560"/>
          </a:xfrm>
          <a:prstGeom prst="roundRect">
            <a:avLst>
              <a:gd name="adj" fmla="val 12174"/>
            </a:avLst>
          </a:prstGeom>
          <a:solidFill>
            <a:schemeClr val="bg1"/>
          </a:solidFill>
          <a:ln/>
          <a:effectLst>
            <a:outerShdw blurRad="127000" dist="25400" dir="5400000" algn="bl" rotWithShape="0">
              <a:srgbClr val="4C1D95">
                <a:alpha val="12000"/>
              </a:srgbClr>
            </a:outerShdw>
          </a:effectLst>
        </p:spPr>
      </p:sp>
      <p:sp>
        <p:nvSpPr>
          <p:cNvPr id="30" name="Icon circle FiFileText"/>
          <p:cNvSpPr/>
          <p:nvPr/>
        </p:nvSpPr>
        <p:spPr>
          <a:xfrm>
            <a:off x="4846320" y="3657600"/>
            <a:ext cx="411480" cy="411480"/>
          </a:xfrm>
          <a:prstGeom prst="ellipse">
            <a:avLst/>
          </a:prstGeom>
          <a:solidFill>
            <a:schemeClr val="accent1"/>
          </a:solidFill>
          <a:ln/>
        </p:spPr>
      </p:sp>
      <p:pic>
        <p:nvPicPr>
          <p:cNvPr id="31" name="Icon FiFileText" descr="FileText icon"/>
          <p:cNvPicPr>
            <a:picLocks noChangeAspect="1"/>
          </p:cNvPicPr>
          <p:nvPr/>
        </p:nvPicPr>
        <p:blipFill>
          <a:blip r:embed="rId7"/>
          <a:stretch>
            <a:fillRect/>
          </a:stretch>
        </p:blipFill>
        <p:spPr>
          <a:xfrm>
            <a:off x="4949190" y="3760470"/>
            <a:ext cx="205740" cy="205740"/>
          </a:xfrm>
          <a:prstGeom prst="rect">
            <a:avLst/>
          </a:prstGeom>
        </p:spPr>
      </p:pic>
      <p:sp>
        <p:nvSpPr>
          <p:cNvPr id="32" name="Testing heading Testing documentation"/>
          <p:cNvSpPr txBox="1"/>
          <p:nvPr/>
        </p:nvSpPr>
        <p:spPr>
          <a:xfrm>
            <a:off x="5440680" y="3630168"/>
            <a:ext cx="3017520" cy="274320"/>
          </a:xfrm>
          <a:prstGeom prst="rect">
            <a:avLst/>
          </a:prstGeom>
          <a:noFill/>
          <a:ln/>
        </p:spPr>
        <p:txBody>
          <a:bodyPr wrap="square" lIns="0" tIns="0" rIns="0" bIns="0" rtlCol="0" anchor="t"/>
          <a:lstStyle/>
          <a:p>
            <a:pPr marL="0" indent="0">
              <a:buNone/>
            </a:pPr>
            <a:r>
              <a:rPr lang="en-US" sz="1600" b="1" dirty="0">
                <a:solidFill>
                  <a:schemeClr val="tx1"/>
                </a:solidFill>
              </a:rPr>
              <a:t>Testing documentation</a:t>
            </a:r>
            <a:endParaRPr lang="en-US" sz="1600" dirty="0"/>
          </a:p>
        </p:txBody>
      </p:sp>
      <p:sp>
        <p:nvSpPr>
          <p:cNvPr id="33" name="Testing text Testing documentation"/>
          <p:cNvSpPr txBox="1"/>
          <p:nvPr/>
        </p:nvSpPr>
        <p:spPr>
          <a:xfrm>
            <a:off x="5440680" y="3950208"/>
            <a:ext cx="3017520" cy="502920"/>
          </a:xfrm>
          <a:prstGeom prst="rect">
            <a:avLst/>
          </a:prstGeom>
          <a:noFill/>
          <a:ln/>
        </p:spPr>
        <p:txBody>
          <a:bodyPr wrap="square" lIns="0" tIns="0" rIns="0" bIns="0" rtlCol="0" anchor="t"/>
          <a:lstStyle/>
          <a:p>
            <a:pPr marL="0" indent="0">
              <a:buNone/>
            </a:pPr>
            <a:r>
              <a:rPr lang="en-US" sz="1400" dirty="0">
                <a:solidFill>
                  <a:schemeClr val="tx2"/>
                </a:solidFill>
              </a:rPr>
              <a:t>Prepare a testing report</a:t>
            </a:r>
            <a:endParaRPr lang="en-US" sz="1400" dirty="0"/>
          </a:p>
          <a:p>
            <a:pPr marL="0" indent="0">
              <a:buNone/>
            </a:pPr>
            <a:r>
              <a:rPr lang="en-US" sz="1400" dirty="0">
                <a:solidFill>
                  <a:schemeClr val="tx2"/>
                </a:solidFill>
              </a:rPr>
              <a:t>Keep TESTING.md in GitHub if needed</a:t>
            </a:r>
            <a:endParaRPr lang="en-US" sz="1400" dirty="0"/>
          </a:p>
        </p:txBody>
      </p:sp>
      <p:sp>
        <p:nvSpPr>
          <p:cNvPr id="3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F1C9-C270-58E5-DB4A-AF729AFEC058}"/>
              </a:ext>
            </a:extLst>
          </p:cNvPr>
          <p:cNvSpPr>
            <a:spLocks noGrp="1"/>
          </p:cNvSpPr>
          <p:nvPr>
            <p:ph type="title" idx="100"/>
          </p:nvPr>
        </p:nvSpPr>
        <p:spPr/>
        <p:txBody>
          <a:bodyPr/>
          <a:lstStyle/>
          <a:p>
            <a:endParaRPr lang="en-IN" dirty="0"/>
          </a:p>
        </p:txBody>
      </p:sp>
      <p:sp>
        <p:nvSpPr>
          <p:cNvPr id="3" name="Text Placeholder 2">
            <a:extLst>
              <a:ext uri="{FF2B5EF4-FFF2-40B4-BE49-F238E27FC236}">
                <a16:creationId xmlns:a16="http://schemas.microsoft.com/office/drawing/2014/main" id="{21728181-7060-E2C4-CF0D-001322D5B2FA}"/>
              </a:ext>
            </a:extLst>
          </p:cNvPr>
          <p:cNvSpPr>
            <a:spLocks noGrp="1"/>
          </p:cNvSpPr>
          <p:nvPr>
            <p:ph type="body" idx="101"/>
          </p:nvPr>
        </p:nvSpPr>
        <p:spPr/>
        <p:txBody>
          <a:bodyPr/>
          <a:lstStyle/>
          <a:p>
            <a:endParaRPr lang="en-IN"/>
          </a:p>
        </p:txBody>
      </p:sp>
      <p:pic>
        <p:nvPicPr>
          <p:cNvPr id="5" name="Picture 4">
            <a:extLst>
              <a:ext uri="{FF2B5EF4-FFF2-40B4-BE49-F238E27FC236}">
                <a16:creationId xmlns:a16="http://schemas.microsoft.com/office/drawing/2014/main" id="{C7A66835-3B5C-38E6-3FE4-4F629A721C34}"/>
              </a:ext>
            </a:extLst>
          </p:cNvPr>
          <p:cNvPicPr>
            <a:picLocks noChangeAspect="1"/>
          </p:cNvPicPr>
          <p:nvPr/>
        </p:nvPicPr>
        <p:blipFill>
          <a:blip r:embed="rId2"/>
          <a:stretch>
            <a:fillRect/>
          </a:stretch>
        </p:blipFill>
        <p:spPr>
          <a:xfrm>
            <a:off x="316522" y="253218"/>
            <a:ext cx="8532055" cy="4890282"/>
          </a:xfrm>
          <a:prstGeom prst="rect">
            <a:avLst/>
          </a:prstGeom>
        </p:spPr>
      </p:pic>
    </p:spTree>
    <p:extLst>
      <p:ext uri="{BB962C8B-B14F-4D97-AF65-F5344CB8AC3E}">
        <p14:creationId xmlns:p14="http://schemas.microsoft.com/office/powerpoint/2010/main" val="1312719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eck circle"/>
          <p:cNvSpPr/>
          <p:nvPr/>
        </p:nvSpPr>
        <p:spPr>
          <a:xfrm>
            <a:off x="4206240" y="731520"/>
            <a:ext cx="731520" cy="731520"/>
          </a:xfrm>
          <a:prstGeom prst="ellipse">
            <a:avLst/>
          </a:prstGeom>
          <a:solidFill>
            <a:schemeClr val="accent1"/>
          </a:solidFill>
          <a:ln/>
        </p:spPr>
      </p:sp>
      <p:pic>
        <p:nvPicPr>
          <p:cNvPr id="3" name="Icon FiCheck" descr="Check icon"/>
          <p:cNvPicPr>
            <a:picLocks noChangeAspect="1"/>
          </p:cNvPicPr>
          <p:nvPr/>
        </p:nvPicPr>
        <p:blipFill>
          <a:blip r:embed="rId3"/>
          <a:stretch>
            <a:fillRect/>
          </a:stretch>
        </p:blipFill>
        <p:spPr>
          <a:xfrm>
            <a:off x="4389120" y="914400"/>
            <a:ext cx="365760" cy="365760"/>
          </a:xfrm>
          <a:prstGeom prst="rect">
            <a:avLst/>
          </a:prstGeom>
        </p:spPr>
      </p:pic>
      <p:sp>
        <p:nvSpPr>
          <p:cNvPr id="4" name="Text 0"/>
          <p:cNvSpPr>
            <a:spLocks noGrp="1"/>
          </p:cNvSpPr>
          <p:nvPr>
            <p:ph type="title" idx="100" hasCustomPrompt="1"/>
          </p:nvPr>
        </p:nvSpPr>
        <p:spPr>
          <a:xfrm>
            <a:off x="914400" y="1828800"/>
            <a:ext cx="7315200" cy="914400"/>
          </a:xfrm>
          <a:prstGeom prst="rect">
            <a:avLst/>
          </a:prstGeom>
          <a:noFill/>
          <a:ln/>
        </p:spPr>
        <p:txBody>
          <a:bodyPr wrap="square" lIns="0" tIns="0" rIns="0" bIns="0" rtlCol="0" anchor="ctr"/>
          <a:lstStyle/>
          <a:p>
            <a:pPr marL="0" indent="0" algn="ctr">
              <a:buNone/>
            </a:pPr>
            <a:r>
              <a:rPr lang="en-US" sz="5400" b="1" dirty="0">
                <a:solidFill>
                  <a:schemeClr val="bg1"/>
                </a:solidFill>
              </a:rPr>
              <a:t>Thank you</a:t>
            </a:r>
            <a:endParaRPr lang="en-US" sz="5400" dirty="0"/>
          </a:p>
        </p:txBody>
      </p:sp>
      <p:sp>
        <p:nvSpPr>
          <p:cNvPr id="5" name="Text 0"/>
          <p:cNvSpPr>
            <a:spLocks noGrp="1"/>
          </p:cNvSpPr>
          <p:nvPr>
            <p:ph type="body" idx="101" hasCustomPrompt="1"/>
          </p:nvPr>
        </p:nvSpPr>
        <p:spPr>
          <a:xfrm>
            <a:off x="914400" y="2834640"/>
            <a:ext cx="7315200" cy="457200"/>
          </a:xfrm>
          <a:prstGeom prst="rect">
            <a:avLst/>
          </a:prstGeom>
          <a:noFill/>
          <a:ln/>
        </p:spPr>
        <p:txBody>
          <a:bodyPr wrap="square" lIns="0" tIns="0" rIns="0" bIns="0" rtlCol="0" anchor="t"/>
          <a:lstStyle/>
          <a:p>
            <a:pPr marL="0" indent="0" algn="ctr">
              <a:buNone/>
            </a:pPr>
            <a:endParaRPr lang="en-US" sz="2200" dirty="0"/>
          </a:p>
        </p:txBody>
      </p:sp>
      <p:sp>
        <p:nvSpPr>
          <p:cNvPr id="6" name="Future label"/>
          <p:cNvSpPr txBox="1"/>
          <p:nvPr/>
        </p:nvSpPr>
        <p:spPr>
          <a:xfrm>
            <a:off x="914400" y="3611880"/>
            <a:ext cx="7315200" cy="274320"/>
          </a:xfrm>
          <a:prstGeom prst="rect">
            <a:avLst/>
          </a:prstGeom>
          <a:noFill/>
          <a:ln/>
        </p:spPr>
        <p:txBody>
          <a:bodyPr wrap="square" lIns="0" tIns="0" rIns="0" bIns="0" rtlCol="0" anchor="t"/>
          <a:lstStyle/>
          <a:p>
            <a:pPr marL="0" indent="0" algn="ctr">
              <a:buNone/>
            </a:pPr>
            <a:r>
              <a:rPr lang="en-US" sz="1400" b="1" dirty="0">
                <a:solidFill>
                  <a:schemeClr val="bg2"/>
                </a:solidFill>
              </a:rPr>
              <a:t>Next version</a:t>
            </a:r>
            <a:endParaRPr lang="en-US" sz="1400" dirty="0"/>
          </a:p>
        </p:txBody>
      </p:sp>
      <p:sp>
        <p:nvSpPr>
          <p:cNvPr id="7" name="Future pill Cloud accounts"/>
          <p:cNvSpPr/>
          <p:nvPr/>
        </p:nvSpPr>
        <p:spPr>
          <a:xfrm>
            <a:off x="1325880" y="3977640"/>
            <a:ext cx="164592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8" name="Future pill text Cloud accounts"/>
          <p:cNvSpPr txBox="1"/>
          <p:nvPr/>
        </p:nvSpPr>
        <p:spPr>
          <a:xfrm>
            <a:off x="1325880" y="3977640"/>
            <a:ext cx="1645920" cy="365760"/>
          </a:xfrm>
          <a:prstGeom prst="rect">
            <a:avLst/>
          </a:prstGeom>
          <a:noFill/>
          <a:ln/>
        </p:spPr>
        <p:txBody>
          <a:bodyPr wrap="square" lIns="0" tIns="0" rIns="0" bIns="0" rtlCol="0" anchor="ctr"/>
          <a:lstStyle/>
          <a:p>
            <a:pPr marL="0" indent="0" algn="ctr">
              <a:buNone/>
            </a:pPr>
            <a:r>
              <a:rPr lang="en-US" sz="1400" dirty="0">
                <a:solidFill>
                  <a:schemeClr val="bg1"/>
                </a:solidFill>
              </a:rPr>
              <a:t>Cloud accounts</a:t>
            </a:r>
            <a:endParaRPr lang="en-US" sz="1400" dirty="0"/>
          </a:p>
        </p:txBody>
      </p:sp>
      <p:sp>
        <p:nvSpPr>
          <p:cNvPr id="9" name="Future pill Reminders"/>
          <p:cNvSpPr/>
          <p:nvPr/>
        </p:nvSpPr>
        <p:spPr>
          <a:xfrm>
            <a:off x="3154680" y="3977640"/>
            <a:ext cx="137160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10" name="Future pill text Reminders"/>
          <p:cNvSpPr txBox="1"/>
          <p:nvPr/>
        </p:nvSpPr>
        <p:spPr>
          <a:xfrm>
            <a:off x="3154680" y="3977640"/>
            <a:ext cx="1371600" cy="365760"/>
          </a:xfrm>
          <a:prstGeom prst="rect">
            <a:avLst/>
          </a:prstGeom>
          <a:noFill/>
          <a:ln/>
        </p:spPr>
        <p:txBody>
          <a:bodyPr wrap="square" lIns="0" tIns="0" rIns="0" bIns="0" rtlCol="0" anchor="ctr"/>
          <a:lstStyle/>
          <a:p>
            <a:pPr marL="0" indent="0" algn="ctr">
              <a:buNone/>
            </a:pPr>
            <a:r>
              <a:rPr lang="en-US" sz="1400" dirty="0">
                <a:solidFill>
                  <a:schemeClr val="bg1"/>
                </a:solidFill>
              </a:rPr>
              <a:t>Reminders</a:t>
            </a:r>
            <a:endParaRPr lang="en-US" sz="1400" dirty="0"/>
          </a:p>
        </p:txBody>
      </p:sp>
      <p:sp>
        <p:nvSpPr>
          <p:cNvPr id="11" name="Future pill Team sharing"/>
          <p:cNvSpPr/>
          <p:nvPr/>
        </p:nvSpPr>
        <p:spPr>
          <a:xfrm>
            <a:off x="4709160" y="3977640"/>
            <a:ext cx="155448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12" name="Future pill text Team sharing"/>
          <p:cNvSpPr txBox="1"/>
          <p:nvPr/>
        </p:nvSpPr>
        <p:spPr>
          <a:xfrm>
            <a:off x="4709160" y="3977640"/>
            <a:ext cx="1554480" cy="365760"/>
          </a:xfrm>
          <a:prstGeom prst="rect">
            <a:avLst/>
          </a:prstGeom>
          <a:noFill/>
          <a:ln/>
        </p:spPr>
        <p:txBody>
          <a:bodyPr wrap="square" lIns="0" tIns="0" rIns="0" bIns="0" rtlCol="0" anchor="ctr"/>
          <a:lstStyle/>
          <a:p>
            <a:pPr marL="0" indent="0" algn="ctr">
              <a:buNone/>
            </a:pPr>
            <a:r>
              <a:rPr lang="en-US" sz="1400" dirty="0">
                <a:solidFill>
                  <a:schemeClr val="bg1"/>
                </a:solidFill>
              </a:rPr>
              <a:t>Team sharing</a:t>
            </a:r>
            <a:endParaRPr lang="en-US" sz="1400" dirty="0"/>
          </a:p>
        </p:txBody>
      </p:sp>
      <p:sp>
        <p:nvSpPr>
          <p:cNvPr id="13" name="Future pill Mobile app"/>
          <p:cNvSpPr/>
          <p:nvPr/>
        </p:nvSpPr>
        <p:spPr>
          <a:xfrm>
            <a:off x="6446520" y="3977640"/>
            <a:ext cx="1371600" cy="365760"/>
          </a:xfrm>
          <a:prstGeom prst="roundRect">
            <a:avLst>
              <a:gd name="adj" fmla="val 50000"/>
            </a:avLst>
          </a:prstGeom>
          <a:solidFill>
            <a:schemeClr val="bg1">
              <a:alpha val="15000"/>
            </a:schemeClr>
          </a:solidFill>
          <a:ln w="9525">
            <a:solidFill>
              <a:schemeClr val="bg1">
                <a:alpha val="30000"/>
              </a:schemeClr>
            </a:solidFill>
            <a:prstDash val="solid"/>
          </a:ln>
        </p:spPr>
      </p:sp>
      <p:sp>
        <p:nvSpPr>
          <p:cNvPr id="14" name="Future pill text Mobile app"/>
          <p:cNvSpPr txBox="1"/>
          <p:nvPr/>
        </p:nvSpPr>
        <p:spPr>
          <a:xfrm>
            <a:off x="6446520" y="3977640"/>
            <a:ext cx="1371600" cy="365760"/>
          </a:xfrm>
          <a:prstGeom prst="rect">
            <a:avLst/>
          </a:prstGeom>
          <a:noFill/>
          <a:ln/>
        </p:spPr>
        <p:txBody>
          <a:bodyPr wrap="square" lIns="0" tIns="0" rIns="0" bIns="0" rtlCol="0" anchor="ctr"/>
          <a:lstStyle/>
          <a:p>
            <a:pPr marL="0" indent="0" algn="ctr">
              <a:buNone/>
            </a:pPr>
            <a:r>
              <a:rPr lang="en-US" sz="1400" dirty="0">
                <a:solidFill>
                  <a:schemeClr val="bg1"/>
                </a:solidFill>
              </a:rPr>
              <a:t>Mobile app</a:t>
            </a:r>
            <a:endParaRPr lang="en-US" sz="1400" dirty="0"/>
          </a:p>
        </p:txBody>
      </p:sp>
    </p:spTree>
  </p:cSld>
  <p:clrMapOvr>
    <a:masterClrMapping/>
  </p:clrMapOvr>
</p:sld>
</file>

<file path=ppt/theme/theme1.xml><?xml version="1.0" encoding="utf-8"?>
<a:theme xmlns:a="http://schemas.openxmlformats.org/drawingml/2006/main" name="TaskMate">
  <a:themeElements>
    <a:clrScheme name="TaskMate">
      <a:dk1>
        <a:srgbClr val="1E1B3A"/>
      </a:dk1>
      <a:lt1>
        <a:srgbClr val="FFFFFF"/>
      </a:lt1>
      <a:dk2>
        <a:srgbClr val="6B6890"/>
      </a:dk2>
      <a:lt2>
        <a:srgbClr val="EEF0FF"/>
      </a:lt2>
      <a:accent1>
        <a:srgbClr val="7C3AED"/>
      </a:accent1>
      <a:accent2>
        <a:srgbClr val="EC4899"/>
      </a:accent2>
      <a:accent3>
        <a:srgbClr val="0EA5E9"/>
      </a:accent3>
      <a:accent4>
        <a:srgbClr val="10B981"/>
      </a:accent4>
      <a:accent5>
        <a:srgbClr val="F59E0B"/>
      </a:accent5>
      <a:accent6>
        <a:srgbClr val="EF4444"/>
      </a:accent6>
      <a:hlink>
        <a:srgbClr val="7C3AED"/>
      </a:hlink>
      <a:folHlink>
        <a:srgbClr val="EC4899"/>
      </a:folHlink>
    </a:clrScheme>
    <a:fontScheme name="TaskM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1467</Words>
  <Application>Microsoft Office PowerPoint</Application>
  <PresentationFormat>On-screen Show (16:9)</PresentationFormat>
  <Paragraphs>190</Paragraphs>
  <Slides>15</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TaskMate</vt:lpstr>
      <vt:lpstr>TaskMate</vt:lpstr>
      <vt:lpstr>Project overview</vt:lpstr>
      <vt:lpstr>Requirements and user stories</vt:lpstr>
      <vt:lpstr>SDLC MODEL</vt:lpstr>
      <vt:lpstr>TaskMate workflow diagram</vt:lpstr>
      <vt:lpstr>TaskMate wireframes</vt:lpstr>
      <vt:lpstr>Why we built TaskMate</vt:lpstr>
      <vt:lpstr>Features and tech stack</vt:lpstr>
      <vt:lpstr>Dashboard at a glance</vt:lpstr>
      <vt:lpstr>Create and manage tasks</vt:lpstr>
      <vt:lpstr>Kanban board</vt:lpstr>
      <vt:lpstr>Calendar, analytics, focus</vt:lpstr>
      <vt:lpstr>Testing and test results</vt:lpstr>
      <vt:lpstr>PowerPoint 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TaskMate - Project Presentation</dc:title>
  <dc:subject>TaskMate task management mini project</dc:subject>
  <dc:creator>Team TaskMate</dc:creator>
  <cp:lastModifiedBy>hariniiyappan29@gmail.com</cp:lastModifiedBy>
  <cp:revision>2</cp:revision>
  <dcterms:created xsi:type="dcterms:W3CDTF">2026-10-11T14:38:13Z</dcterms:created>
  <dcterms:modified xsi:type="dcterms:W3CDTF">2026-10-12T04:16:32Z</dcterms:modified>
</cp:coreProperties>
</file>